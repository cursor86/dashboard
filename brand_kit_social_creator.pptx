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 replace the brand name and tagline with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your story — who you are, what you make,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your core offerings — replace with your own products/services.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Showcase your best items — swap in your own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package names, prices, and features to match your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in real reviews/testimonials from your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with your own numbers once you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your process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this grid with your own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with your real contact details and handles.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slideLayout" Target="../slideLayouts/slideLayout1.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6167"/>
        </a:solidFill>
      </p:bgPr>
    </p:bg>
    <p:spTree>
      <p:nvGrpSpPr>
        <p:cNvPr id="1" name=""/>
        <p:cNvGrpSpPr/>
        <p:nvPr/>
      </p:nvGrpSpPr>
      <p:grpSpPr>
        <a:xfrm>
          <a:off x="0" y="0"/>
          <a:ext cx="0" cy="0"/>
          <a:chOff x="0" y="0"/>
          <a:chExt cx="0" cy="0"/>
        </a:xfrm>
      </p:grpSpPr>
      <p:sp>
        <p:nvSpPr>
          <p:cNvPr id="2" name="Shape 0"/>
          <p:cNvSpPr/>
          <p:nvPr/>
        </p:nvSpPr>
        <p:spPr>
          <a:xfrm>
            <a:off x="8778240" y="-1280160"/>
            <a:ext cx="4023360" cy="4023360"/>
          </a:xfrm>
          <a:prstGeom prst="ellipse">
            <a:avLst/>
          </a:prstGeom>
          <a:solidFill>
            <a:srgbClr val="F9E795">
              <a:alpha val="8000"/>
            </a:srgbClr>
          </a:solidFill>
          <a:ln/>
        </p:spPr>
      </p:sp>
      <p:sp>
        <p:nvSpPr>
          <p:cNvPr id="3" name="Shape 1"/>
          <p:cNvSpPr/>
          <p:nvPr/>
        </p:nvSpPr>
        <p:spPr>
          <a:xfrm>
            <a:off x="-365760" y="4846320"/>
            <a:ext cx="2926080" cy="2926080"/>
          </a:xfrm>
          <a:prstGeom prst="ellipse">
            <a:avLst/>
          </a:prstGeom>
          <a:solidFill>
            <a:srgbClr val="F9E795">
              <a:alpha val="6000"/>
            </a:srgbClr>
          </a:solidFill>
          <a:ln/>
        </p:spPr>
      </p:sp>
      <p:sp>
        <p:nvSpPr>
          <p:cNvPr id="4" name="Text 2"/>
          <p:cNvSpPr/>
          <p:nvPr/>
        </p:nvSpPr>
        <p:spPr>
          <a:xfrm>
            <a:off x="914400" y="2377440"/>
            <a:ext cx="1033272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Your Creator Name</a:t>
            </a:r>
            <a:endParaRPr lang="en-US" sz="4800" dirty="0"/>
          </a:p>
        </p:txBody>
      </p:sp>
      <p:sp>
        <p:nvSpPr>
          <p:cNvPr id="5" name="Text 3"/>
          <p:cNvSpPr/>
          <p:nvPr/>
        </p:nvSpPr>
        <p:spPr>
          <a:xfrm>
            <a:off x="914400" y="3429000"/>
            <a:ext cx="9144000" cy="548640"/>
          </a:xfrm>
          <a:prstGeom prst="rect">
            <a:avLst/>
          </a:prstGeom>
          <a:noFill/>
          <a:ln/>
        </p:spPr>
        <p:txBody>
          <a:bodyPr wrap="square" lIns="0" tIns="0" rIns="0" bIns="0"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Content that connects, campaigns that convert</a:t>
            </a:r>
            <a:endParaRPr lang="en-US" sz="1800" dirty="0"/>
          </a:p>
        </p:txBody>
      </p:sp>
      <p:sp>
        <p:nvSpPr>
          <p:cNvPr id="6" name="Text 4"/>
          <p:cNvSpPr/>
          <p:nvPr/>
        </p:nvSpPr>
        <p:spPr>
          <a:xfrm>
            <a:off x="914400" y="5943600"/>
            <a:ext cx="73152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Brand &amp; Media Kit Template — Creator Edition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About This Creator</a:t>
            </a:r>
            <a:endParaRPr lang="en-US" sz="3200" dirty="0"/>
          </a:p>
        </p:txBody>
      </p:sp>
      <p:sp>
        <p:nvSpPr>
          <p:cNvPr id="3" name="Text 1"/>
          <p:cNvSpPr/>
          <p:nvPr/>
        </p:nvSpPr>
        <p:spPr>
          <a:xfrm>
            <a:off x="548640" y="1371600"/>
            <a:ext cx="6035040" cy="4114800"/>
          </a:xfrm>
          <a:prstGeom prst="rect">
            <a:avLst/>
          </a:prstGeom>
          <a:noFill/>
          <a:ln/>
        </p:spPr>
        <p:txBody>
          <a:bodyPr wrap="square" lIns="0" tIns="0" rIns="0" bIns="0" rtlCol="0" anchor="t"/>
          <a:lstStyle/>
          <a:p>
            <a:pPr indent="0" marL="0">
              <a:lnSpc>
                <a:spcPct val="130000"/>
              </a:lnSpc>
              <a:buNone/>
            </a:pPr>
            <a:r>
              <a:rPr lang="en-US" sz="1500" dirty="0">
                <a:solidFill>
                  <a:srgbClr val="2F3C7E"/>
                </a:solidFill>
                <a:latin typeface="Calibri" pitchFamily="34" charset="0"/>
                <a:ea typeface="Calibri" pitchFamily="34" charset="-122"/>
                <a:cs typeface="Calibri" pitchFamily="34" charset="-120"/>
              </a:rPr>
              <a:t>I'm a content creator focused on my niche, building an engaged community across social platforms. This media kit is your space to share your story, your content style, and why brands love partnering with you.</a:t>
            </a:r>
            <a:endParaRPr lang="en-US" sz="1500" dirty="0"/>
          </a:p>
          <a:p>
            <a:pPr indent="0" marL="0">
              <a:lnSpc>
                <a:spcPct val="130000"/>
              </a:lnSpc>
              <a:buNone/>
            </a:pPr>
            <a:endParaRPr lang="en-US" sz="1500" dirty="0"/>
          </a:p>
          <a:p>
            <a:pPr indent="0" marL="0">
              <a:lnSpc>
                <a:spcPct val="130000"/>
              </a:lnSpc>
              <a:buNone/>
            </a:pPr>
            <a:r>
              <a:rPr lang="en-US" sz="1500" dirty="0">
                <a:solidFill>
                  <a:srgbClr val="2F3C7E"/>
                </a:solidFill>
                <a:latin typeface="Calibri" pitchFamily="34" charset="0"/>
                <a:ea typeface="Calibri" pitchFamily="34" charset="-122"/>
                <a:cs typeface="Calibri" pitchFamily="34" charset="-120"/>
              </a:rPr>
              <a:t>Swap in your own bio, niche, and voice.</a:t>
            </a:r>
            <a:endParaRPr lang="en-US" sz="1500" dirty="0"/>
          </a:p>
        </p:txBody>
      </p:sp>
      <p:sp>
        <p:nvSpPr>
          <p:cNvPr id="4" name="Shape 2"/>
          <p:cNvSpPr/>
          <p:nvPr/>
        </p:nvSpPr>
        <p:spPr>
          <a:xfrm>
            <a:off x="7040880" y="1371600"/>
            <a:ext cx="4480560" cy="4206240"/>
          </a:xfrm>
          <a:prstGeom prst="rect">
            <a:avLst/>
          </a:prstGeom>
          <a:solidFill>
            <a:srgbClr val="FCEEEE"/>
          </a:solidFill>
          <a:ln w="12700">
            <a:solidFill>
              <a:srgbClr val="F9E795"/>
            </a:solidFill>
            <a:prstDash val="dash"/>
          </a:ln>
        </p:spPr>
      </p:sp>
      <p:sp>
        <p:nvSpPr>
          <p:cNvPr id="5" name="Text 3"/>
          <p:cNvSpPr/>
          <p:nvPr/>
        </p:nvSpPr>
        <p:spPr>
          <a:xfrm>
            <a:off x="7040880" y="3291840"/>
            <a:ext cx="448056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Your Photo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EEEE"/>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Collab Options</a:t>
            </a:r>
            <a:endParaRPr lang="en-US" sz="3200" dirty="0"/>
          </a:p>
        </p:txBody>
      </p:sp>
      <p:sp>
        <p:nvSpPr>
          <p:cNvPr id="3" name="Shape 1"/>
          <p:cNvSpPr/>
          <p:nvPr/>
        </p:nvSpPr>
        <p:spPr>
          <a:xfrm>
            <a:off x="640080" y="1554480"/>
            <a:ext cx="731520" cy="731520"/>
          </a:xfrm>
          <a:prstGeom prst="ellipse">
            <a:avLst/>
          </a:prstGeom>
          <a:solidFill>
            <a:srgbClr val="F9E795"/>
          </a:solidFill>
          <a:ln/>
        </p:spPr>
      </p:sp>
      <p:pic>
        <p:nvPicPr>
          <p:cNvPr id="4" name="Image 0" descr="preencoded.png">    </p:cNvPr>
          <p:cNvPicPr>
            <a:picLocks noChangeAspect="1"/>
          </p:cNvPicPr>
          <p:nvPr/>
        </p:nvPicPr>
        <p:blipFill>
          <a:blip r:embed="rId1"/>
          <a:stretch>
            <a:fillRect/>
          </a:stretch>
        </p:blipFill>
        <p:spPr>
          <a:xfrm>
            <a:off x="742493" y="1656893"/>
            <a:ext cx="526694" cy="526694"/>
          </a:xfrm>
          <a:prstGeom prst="rect">
            <a:avLst/>
          </a:prstGeom>
        </p:spPr>
      </p:pic>
      <p:sp>
        <p:nvSpPr>
          <p:cNvPr id="5" name="Text 2"/>
          <p:cNvSpPr/>
          <p:nvPr/>
        </p:nvSpPr>
        <p:spPr>
          <a:xfrm>
            <a:off x="1645920" y="1508760"/>
            <a:ext cx="8229600" cy="365760"/>
          </a:xfrm>
          <a:prstGeom prst="rect">
            <a:avLst/>
          </a:prstGeom>
          <a:noFill/>
          <a:ln/>
        </p:spPr>
        <p:txBody>
          <a:bodyPr wrap="square" lIns="0" tIns="0" rIns="0" bIns="0" rtlCol="0" anchor="ctr"/>
          <a:lstStyle/>
          <a:p>
            <a:pPr indent="0" marL="0">
              <a:buNone/>
            </a:pPr>
            <a:r>
              <a:rPr lang="en-US" sz="1800" b="1" dirty="0">
                <a:solidFill>
                  <a:srgbClr val="2F3C7E"/>
                </a:solidFill>
                <a:latin typeface="Cambria" pitchFamily="34" charset="0"/>
                <a:ea typeface="Cambria" pitchFamily="34" charset="-122"/>
                <a:cs typeface="Cambria" pitchFamily="34" charset="-120"/>
              </a:rPr>
              <a:t>Sponsored Posts</a:t>
            </a:r>
            <a:endParaRPr lang="en-US" sz="1800" dirty="0"/>
          </a:p>
        </p:txBody>
      </p:sp>
      <p:sp>
        <p:nvSpPr>
          <p:cNvPr id="6" name="Text 3"/>
          <p:cNvSpPr/>
          <p:nvPr/>
        </p:nvSpPr>
        <p:spPr>
          <a:xfrm>
            <a:off x="1645920" y="1920240"/>
            <a:ext cx="8229600" cy="548640"/>
          </a:xfrm>
          <a:prstGeom prst="rect">
            <a:avLst/>
          </a:prstGeom>
          <a:noFill/>
          <a:ln/>
        </p:spPr>
        <p:txBody>
          <a:bodyPr wrap="square" lIns="0" tIns="0" rIns="0" bIns="0" rtlCol="0" anchor="ctr"/>
          <a:lstStyle/>
          <a:p>
            <a:pPr indent="0" marL="0">
              <a:buNone/>
            </a:pPr>
            <a:r>
              <a:rPr lang="en-US" sz="1300" dirty="0">
                <a:solidFill>
                  <a:srgbClr val="2F3C7E"/>
                </a:solidFill>
                <a:latin typeface="Calibri" pitchFamily="34" charset="0"/>
                <a:ea typeface="Calibri" pitchFamily="34" charset="-122"/>
                <a:cs typeface="Calibri" pitchFamily="34" charset="-120"/>
              </a:rPr>
              <a:t>Dedicated feed posts featuring your product or service.</a:t>
            </a:r>
            <a:endParaRPr lang="en-US" sz="1300" dirty="0"/>
          </a:p>
        </p:txBody>
      </p:sp>
      <p:sp>
        <p:nvSpPr>
          <p:cNvPr id="7" name="Shape 4"/>
          <p:cNvSpPr/>
          <p:nvPr/>
        </p:nvSpPr>
        <p:spPr>
          <a:xfrm>
            <a:off x="640080" y="2743200"/>
            <a:ext cx="731520" cy="731520"/>
          </a:xfrm>
          <a:prstGeom prst="ellipse">
            <a:avLst/>
          </a:prstGeom>
          <a:solidFill>
            <a:srgbClr val="F9E795"/>
          </a:solidFill>
          <a:ln/>
        </p:spPr>
      </p:sp>
      <p:pic>
        <p:nvPicPr>
          <p:cNvPr id="8" name="Image 1" descr="preencoded.png">    </p:cNvPr>
          <p:cNvPicPr>
            <a:picLocks noChangeAspect="1"/>
          </p:cNvPicPr>
          <p:nvPr/>
        </p:nvPicPr>
        <p:blipFill>
          <a:blip r:embed="rId2"/>
          <a:stretch>
            <a:fillRect/>
          </a:stretch>
        </p:blipFill>
        <p:spPr>
          <a:xfrm>
            <a:off x="742493" y="2845613"/>
            <a:ext cx="526694" cy="526694"/>
          </a:xfrm>
          <a:prstGeom prst="rect">
            <a:avLst/>
          </a:prstGeom>
        </p:spPr>
      </p:pic>
      <p:sp>
        <p:nvSpPr>
          <p:cNvPr id="9" name="Text 5"/>
          <p:cNvSpPr/>
          <p:nvPr/>
        </p:nvSpPr>
        <p:spPr>
          <a:xfrm>
            <a:off x="1645920" y="2697480"/>
            <a:ext cx="8229600" cy="365760"/>
          </a:xfrm>
          <a:prstGeom prst="rect">
            <a:avLst/>
          </a:prstGeom>
          <a:noFill/>
          <a:ln/>
        </p:spPr>
        <p:txBody>
          <a:bodyPr wrap="square" lIns="0" tIns="0" rIns="0" bIns="0" rtlCol="0" anchor="ctr"/>
          <a:lstStyle/>
          <a:p>
            <a:pPr indent="0" marL="0">
              <a:buNone/>
            </a:pPr>
            <a:r>
              <a:rPr lang="en-US" sz="1800" b="1" dirty="0">
                <a:solidFill>
                  <a:srgbClr val="2F3C7E"/>
                </a:solidFill>
                <a:latin typeface="Cambria" pitchFamily="34" charset="0"/>
                <a:ea typeface="Cambria" pitchFamily="34" charset="-122"/>
                <a:cs typeface="Cambria" pitchFamily="34" charset="-120"/>
              </a:rPr>
              <a:t>Story Takeovers</a:t>
            </a:r>
            <a:endParaRPr lang="en-US" sz="1800" dirty="0"/>
          </a:p>
        </p:txBody>
      </p:sp>
      <p:sp>
        <p:nvSpPr>
          <p:cNvPr id="10" name="Text 6"/>
          <p:cNvSpPr/>
          <p:nvPr/>
        </p:nvSpPr>
        <p:spPr>
          <a:xfrm>
            <a:off x="1645920" y="3108960"/>
            <a:ext cx="8229600" cy="548640"/>
          </a:xfrm>
          <a:prstGeom prst="rect">
            <a:avLst/>
          </a:prstGeom>
          <a:noFill/>
          <a:ln/>
        </p:spPr>
        <p:txBody>
          <a:bodyPr wrap="square" lIns="0" tIns="0" rIns="0" bIns="0" rtlCol="0" anchor="ctr"/>
          <a:lstStyle/>
          <a:p>
            <a:pPr indent="0" marL="0">
              <a:buNone/>
            </a:pPr>
            <a:r>
              <a:rPr lang="en-US" sz="1300" dirty="0">
                <a:solidFill>
                  <a:srgbClr val="2F3C7E"/>
                </a:solidFill>
                <a:latin typeface="Calibri" pitchFamily="34" charset="0"/>
                <a:ea typeface="Calibri" pitchFamily="34" charset="-122"/>
                <a:cs typeface="Calibri" pitchFamily="34" charset="-120"/>
              </a:rPr>
              <a:t>A day (or series) of Stories showcasing a brand or campaign.</a:t>
            </a:r>
            <a:endParaRPr lang="en-US" sz="1300" dirty="0"/>
          </a:p>
        </p:txBody>
      </p:sp>
      <p:sp>
        <p:nvSpPr>
          <p:cNvPr id="11" name="Shape 7"/>
          <p:cNvSpPr/>
          <p:nvPr/>
        </p:nvSpPr>
        <p:spPr>
          <a:xfrm>
            <a:off x="640080" y="3931920"/>
            <a:ext cx="731520" cy="731520"/>
          </a:xfrm>
          <a:prstGeom prst="ellipse">
            <a:avLst/>
          </a:prstGeom>
          <a:solidFill>
            <a:srgbClr val="F9E795"/>
          </a:solidFill>
          <a:ln/>
        </p:spPr>
      </p:sp>
      <p:pic>
        <p:nvPicPr>
          <p:cNvPr id="12" name="Image 2" descr="preencoded.png">    </p:cNvPr>
          <p:cNvPicPr>
            <a:picLocks noChangeAspect="1"/>
          </p:cNvPicPr>
          <p:nvPr/>
        </p:nvPicPr>
        <p:blipFill>
          <a:blip r:embed="rId3"/>
          <a:stretch>
            <a:fillRect/>
          </a:stretch>
        </p:blipFill>
        <p:spPr>
          <a:xfrm>
            <a:off x="742493" y="4034333"/>
            <a:ext cx="526694" cy="526694"/>
          </a:xfrm>
          <a:prstGeom prst="rect">
            <a:avLst/>
          </a:prstGeom>
        </p:spPr>
      </p:pic>
      <p:sp>
        <p:nvSpPr>
          <p:cNvPr id="13" name="Text 8"/>
          <p:cNvSpPr/>
          <p:nvPr/>
        </p:nvSpPr>
        <p:spPr>
          <a:xfrm>
            <a:off x="1645920" y="3886200"/>
            <a:ext cx="8229600" cy="365760"/>
          </a:xfrm>
          <a:prstGeom prst="rect">
            <a:avLst/>
          </a:prstGeom>
          <a:noFill/>
          <a:ln/>
        </p:spPr>
        <p:txBody>
          <a:bodyPr wrap="square" lIns="0" tIns="0" rIns="0" bIns="0" rtlCol="0" anchor="ctr"/>
          <a:lstStyle/>
          <a:p>
            <a:pPr indent="0" marL="0">
              <a:buNone/>
            </a:pPr>
            <a:r>
              <a:rPr lang="en-US" sz="1800" b="1" dirty="0">
                <a:solidFill>
                  <a:srgbClr val="2F3C7E"/>
                </a:solidFill>
                <a:latin typeface="Cambria" pitchFamily="34" charset="0"/>
                <a:ea typeface="Cambria" pitchFamily="34" charset="-122"/>
                <a:cs typeface="Cambria" pitchFamily="34" charset="-120"/>
              </a:rPr>
              <a:t>Long-Term Partnerships</a:t>
            </a:r>
            <a:endParaRPr lang="en-US" sz="1800" dirty="0"/>
          </a:p>
        </p:txBody>
      </p:sp>
      <p:sp>
        <p:nvSpPr>
          <p:cNvPr id="14" name="Text 9"/>
          <p:cNvSpPr/>
          <p:nvPr/>
        </p:nvSpPr>
        <p:spPr>
          <a:xfrm>
            <a:off x="1645920" y="4297680"/>
            <a:ext cx="8229600" cy="548640"/>
          </a:xfrm>
          <a:prstGeom prst="rect">
            <a:avLst/>
          </a:prstGeom>
          <a:noFill/>
          <a:ln/>
        </p:spPr>
        <p:txBody>
          <a:bodyPr wrap="square" lIns="0" tIns="0" rIns="0" bIns="0" rtlCol="0" anchor="ctr"/>
          <a:lstStyle/>
          <a:p>
            <a:pPr indent="0" marL="0">
              <a:buNone/>
            </a:pPr>
            <a:r>
              <a:rPr lang="en-US" sz="1300" dirty="0">
                <a:solidFill>
                  <a:srgbClr val="2F3C7E"/>
                </a:solidFill>
                <a:latin typeface="Calibri" pitchFamily="34" charset="0"/>
                <a:ea typeface="Calibri" pitchFamily="34" charset="-122"/>
                <a:cs typeface="Calibri" pitchFamily="34" charset="-120"/>
              </a:rPr>
              <a:t>Ongoing ambassador-style collaborations across multiple posts.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Featured Content</a:t>
            </a:r>
            <a:endParaRPr lang="en-US" sz="3200" dirty="0"/>
          </a:p>
        </p:txBody>
      </p:sp>
      <p:sp>
        <p:nvSpPr>
          <p:cNvPr id="3" name="Shape 1"/>
          <p:cNvSpPr/>
          <p:nvPr/>
        </p:nvSpPr>
        <p:spPr>
          <a:xfrm>
            <a:off x="548640" y="1371600"/>
            <a:ext cx="2606040" cy="2286000"/>
          </a:xfrm>
          <a:prstGeom prst="rect">
            <a:avLst/>
          </a:prstGeom>
          <a:solidFill>
            <a:srgbClr val="FCEEEE"/>
          </a:solidFill>
          <a:ln w="12700">
            <a:solidFill>
              <a:srgbClr val="F9E795"/>
            </a:solidFill>
            <a:prstDash val="dash"/>
          </a:ln>
        </p:spPr>
      </p:sp>
      <p:sp>
        <p:nvSpPr>
          <p:cNvPr id="4" name="Text 2"/>
          <p:cNvSpPr/>
          <p:nvPr/>
        </p:nvSpPr>
        <p:spPr>
          <a:xfrm>
            <a:off x="548640" y="2331720"/>
            <a:ext cx="260604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
        <p:nvSpPr>
          <p:cNvPr id="5" name="Text 3"/>
          <p:cNvSpPr/>
          <p:nvPr/>
        </p:nvSpPr>
        <p:spPr>
          <a:xfrm>
            <a:off x="548640" y="3749040"/>
            <a:ext cx="2606040" cy="365760"/>
          </a:xfrm>
          <a:prstGeom prst="rect">
            <a:avLst/>
          </a:prstGeom>
          <a:noFill/>
          <a:ln/>
        </p:spPr>
        <p:txBody>
          <a:bodyPr wrap="square" lIns="0" tIns="0" rIns="0" bIns="0" rtlCol="0" anchor="ctr"/>
          <a:lstStyle/>
          <a:p>
            <a:pPr algn="ctr" indent="0" marL="0">
              <a:buNone/>
            </a:pPr>
            <a:r>
              <a:rPr lang="en-US" sz="1200" b="1" dirty="0">
                <a:solidFill>
                  <a:srgbClr val="2F3C7E"/>
                </a:solidFill>
                <a:latin typeface="Calibri" pitchFamily="34" charset="0"/>
                <a:ea typeface="Calibri" pitchFamily="34" charset="-122"/>
                <a:cs typeface="Calibri" pitchFamily="34" charset="-120"/>
              </a:rPr>
              <a:t>Post One</a:t>
            </a:r>
            <a:endParaRPr lang="en-US" sz="1200" dirty="0"/>
          </a:p>
        </p:txBody>
      </p:sp>
      <p:sp>
        <p:nvSpPr>
          <p:cNvPr id="6" name="Shape 4"/>
          <p:cNvSpPr/>
          <p:nvPr/>
        </p:nvSpPr>
        <p:spPr>
          <a:xfrm>
            <a:off x="3429000" y="1371600"/>
            <a:ext cx="2606040" cy="2286000"/>
          </a:xfrm>
          <a:prstGeom prst="rect">
            <a:avLst/>
          </a:prstGeom>
          <a:solidFill>
            <a:srgbClr val="FCEEEE"/>
          </a:solidFill>
          <a:ln w="12700">
            <a:solidFill>
              <a:srgbClr val="F9E795"/>
            </a:solidFill>
            <a:prstDash val="dash"/>
          </a:ln>
        </p:spPr>
      </p:sp>
      <p:sp>
        <p:nvSpPr>
          <p:cNvPr id="7" name="Text 5"/>
          <p:cNvSpPr/>
          <p:nvPr/>
        </p:nvSpPr>
        <p:spPr>
          <a:xfrm>
            <a:off x="3429000" y="2331720"/>
            <a:ext cx="260604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
        <p:nvSpPr>
          <p:cNvPr id="8" name="Text 6"/>
          <p:cNvSpPr/>
          <p:nvPr/>
        </p:nvSpPr>
        <p:spPr>
          <a:xfrm>
            <a:off x="3429000" y="3749040"/>
            <a:ext cx="2606040" cy="365760"/>
          </a:xfrm>
          <a:prstGeom prst="rect">
            <a:avLst/>
          </a:prstGeom>
          <a:noFill/>
          <a:ln/>
        </p:spPr>
        <p:txBody>
          <a:bodyPr wrap="square" lIns="0" tIns="0" rIns="0" bIns="0" rtlCol="0" anchor="ctr"/>
          <a:lstStyle/>
          <a:p>
            <a:pPr algn="ctr" indent="0" marL="0">
              <a:buNone/>
            </a:pPr>
            <a:r>
              <a:rPr lang="en-US" sz="1200" b="1" dirty="0">
                <a:solidFill>
                  <a:srgbClr val="2F3C7E"/>
                </a:solidFill>
                <a:latin typeface="Calibri" pitchFamily="34" charset="0"/>
                <a:ea typeface="Calibri" pitchFamily="34" charset="-122"/>
                <a:cs typeface="Calibri" pitchFamily="34" charset="-120"/>
              </a:rPr>
              <a:t>Post Two</a:t>
            </a:r>
            <a:endParaRPr lang="en-US" sz="1200" dirty="0"/>
          </a:p>
        </p:txBody>
      </p:sp>
      <p:sp>
        <p:nvSpPr>
          <p:cNvPr id="9" name="Shape 7"/>
          <p:cNvSpPr/>
          <p:nvPr/>
        </p:nvSpPr>
        <p:spPr>
          <a:xfrm>
            <a:off x="6309360" y="1371600"/>
            <a:ext cx="2606040" cy="2286000"/>
          </a:xfrm>
          <a:prstGeom prst="rect">
            <a:avLst/>
          </a:prstGeom>
          <a:solidFill>
            <a:srgbClr val="FCEEEE"/>
          </a:solidFill>
          <a:ln w="12700">
            <a:solidFill>
              <a:srgbClr val="F9E795"/>
            </a:solidFill>
            <a:prstDash val="dash"/>
          </a:ln>
        </p:spPr>
      </p:sp>
      <p:sp>
        <p:nvSpPr>
          <p:cNvPr id="10" name="Text 8"/>
          <p:cNvSpPr/>
          <p:nvPr/>
        </p:nvSpPr>
        <p:spPr>
          <a:xfrm>
            <a:off x="6309360" y="2331720"/>
            <a:ext cx="260604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
        <p:nvSpPr>
          <p:cNvPr id="11" name="Text 9"/>
          <p:cNvSpPr/>
          <p:nvPr/>
        </p:nvSpPr>
        <p:spPr>
          <a:xfrm>
            <a:off x="6309360" y="3749040"/>
            <a:ext cx="2606040" cy="365760"/>
          </a:xfrm>
          <a:prstGeom prst="rect">
            <a:avLst/>
          </a:prstGeom>
          <a:noFill/>
          <a:ln/>
        </p:spPr>
        <p:txBody>
          <a:bodyPr wrap="square" lIns="0" tIns="0" rIns="0" bIns="0" rtlCol="0" anchor="ctr"/>
          <a:lstStyle/>
          <a:p>
            <a:pPr algn="ctr" indent="0" marL="0">
              <a:buNone/>
            </a:pPr>
            <a:r>
              <a:rPr lang="en-US" sz="1200" b="1" dirty="0">
                <a:solidFill>
                  <a:srgbClr val="2F3C7E"/>
                </a:solidFill>
                <a:latin typeface="Calibri" pitchFamily="34" charset="0"/>
                <a:ea typeface="Calibri" pitchFamily="34" charset="-122"/>
                <a:cs typeface="Calibri" pitchFamily="34" charset="-120"/>
              </a:rPr>
              <a:t>Post Three</a:t>
            </a:r>
            <a:endParaRPr lang="en-US" sz="1200" dirty="0"/>
          </a:p>
        </p:txBody>
      </p:sp>
      <p:sp>
        <p:nvSpPr>
          <p:cNvPr id="12" name="Shape 10"/>
          <p:cNvSpPr/>
          <p:nvPr/>
        </p:nvSpPr>
        <p:spPr>
          <a:xfrm>
            <a:off x="9189720" y="1371600"/>
            <a:ext cx="2606040" cy="2286000"/>
          </a:xfrm>
          <a:prstGeom prst="rect">
            <a:avLst/>
          </a:prstGeom>
          <a:solidFill>
            <a:srgbClr val="FCEEEE"/>
          </a:solidFill>
          <a:ln w="12700">
            <a:solidFill>
              <a:srgbClr val="F9E795"/>
            </a:solidFill>
            <a:prstDash val="dash"/>
          </a:ln>
        </p:spPr>
      </p:sp>
      <p:sp>
        <p:nvSpPr>
          <p:cNvPr id="13" name="Text 11"/>
          <p:cNvSpPr/>
          <p:nvPr/>
        </p:nvSpPr>
        <p:spPr>
          <a:xfrm>
            <a:off x="9189720" y="2331720"/>
            <a:ext cx="260604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
        <p:nvSpPr>
          <p:cNvPr id="14" name="Text 12"/>
          <p:cNvSpPr/>
          <p:nvPr/>
        </p:nvSpPr>
        <p:spPr>
          <a:xfrm>
            <a:off x="9189720" y="3749040"/>
            <a:ext cx="2606040" cy="365760"/>
          </a:xfrm>
          <a:prstGeom prst="rect">
            <a:avLst/>
          </a:prstGeom>
          <a:noFill/>
          <a:ln/>
        </p:spPr>
        <p:txBody>
          <a:bodyPr wrap="square" lIns="0" tIns="0" rIns="0" bIns="0" rtlCol="0" anchor="ctr"/>
          <a:lstStyle/>
          <a:p>
            <a:pPr algn="ctr" indent="0" marL="0">
              <a:buNone/>
            </a:pPr>
            <a:r>
              <a:rPr lang="en-US" sz="1200" b="1" dirty="0">
                <a:solidFill>
                  <a:srgbClr val="2F3C7E"/>
                </a:solidFill>
                <a:latin typeface="Calibri" pitchFamily="34" charset="0"/>
                <a:ea typeface="Calibri" pitchFamily="34" charset="-122"/>
                <a:cs typeface="Calibri" pitchFamily="34" charset="-120"/>
              </a:rPr>
              <a:t>Post Four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EEEE"/>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Collaboration Packages</a:t>
            </a:r>
            <a:endParaRPr lang="en-US" sz="3200" dirty="0"/>
          </a:p>
        </p:txBody>
      </p:sp>
      <p:sp>
        <p:nvSpPr>
          <p:cNvPr id="3" name="Shape 1"/>
          <p:cNvSpPr/>
          <p:nvPr/>
        </p:nvSpPr>
        <p:spPr>
          <a:xfrm>
            <a:off x="685800" y="1371600"/>
            <a:ext cx="3383280" cy="4206240"/>
          </a:xfrm>
          <a:prstGeom prst="roundRect">
            <a:avLst>
              <a:gd name="adj" fmla="val 2162"/>
            </a:avLst>
          </a:prstGeom>
          <a:solidFill>
            <a:srgbClr val="FFFFFF"/>
          </a:solidFill>
          <a:ln/>
          <a:effectLst>
            <a:outerShdw sx="100000" sy="100000" kx="0" ky="0" algn="bl" rotWithShape="0" blurRad="76200" dist="38100" dir="5400000">
              <a:srgbClr val="000000">
                <a:alpha val="15000"/>
              </a:srgbClr>
            </a:outerShdw>
          </a:effectLst>
        </p:spPr>
      </p:sp>
      <p:sp>
        <p:nvSpPr>
          <p:cNvPr id="4" name="Text 2"/>
          <p:cNvSpPr/>
          <p:nvPr/>
        </p:nvSpPr>
        <p:spPr>
          <a:xfrm>
            <a:off x="960120" y="1645920"/>
            <a:ext cx="2834640" cy="457200"/>
          </a:xfrm>
          <a:prstGeom prst="rect">
            <a:avLst/>
          </a:prstGeom>
          <a:noFill/>
          <a:ln/>
        </p:spPr>
        <p:txBody>
          <a:bodyPr wrap="square" lIns="0" tIns="0" rIns="0" bIns="0" rtlCol="0" anchor="ctr"/>
          <a:lstStyle/>
          <a:p>
            <a:pPr indent="0" marL="0">
              <a:buNone/>
            </a:pPr>
            <a:r>
              <a:rPr lang="en-US" sz="2000" b="1" dirty="0">
                <a:solidFill>
                  <a:srgbClr val="2F3C7E"/>
                </a:solidFill>
                <a:latin typeface="Cambria" pitchFamily="34" charset="0"/>
                <a:ea typeface="Cambria" pitchFamily="34" charset="-122"/>
                <a:cs typeface="Cambria" pitchFamily="34" charset="-120"/>
              </a:rPr>
              <a:t>Single Post</a:t>
            </a:r>
            <a:endParaRPr lang="en-US" sz="2000" dirty="0"/>
          </a:p>
        </p:txBody>
      </p:sp>
      <p:sp>
        <p:nvSpPr>
          <p:cNvPr id="5" name="Text 3"/>
          <p:cNvSpPr/>
          <p:nvPr/>
        </p:nvSpPr>
        <p:spPr>
          <a:xfrm>
            <a:off x="960120" y="2148840"/>
            <a:ext cx="2834640" cy="54864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a:t>
            </a:r>
            <a:endParaRPr lang="en-US" sz="3000" dirty="0"/>
          </a:p>
        </p:txBody>
      </p:sp>
      <p:pic>
        <p:nvPicPr>
          <p:cNvPr id="6" name="Image 0" descr="preencoded.png">    </p:cNvPr>
          <p:cNvPicPr>
            <a:picLocks noChangeAspect="1"/>
          </p:cNvPicPr>
          <p:nvPr/>
        </p:nvPicPr>
        <p:blipFill>
          <a:blip r:embed="rId1"/>
          <a:stretch>
            <a:fillRect/>
          </a:stretch>
        </p:blipFill>
        <p:spPr>
          <a:xfrm>
            <a:off x="960120" y="2926080"/>
            <a:ext cx="256032" cy="256032"/>
          </a:xfrm>
          <a:prstGeom prst="rect">
            <a:avLst/>
          </a:prstGeom>
        </p:spPr>
      </p:pic>
      <p:sp>
        <p:nvSpPr>
          <p:cNvPr id="7" name="Text 4"/>
          <p:cNvSpPr/>
          <p:nvPr/>
        </p:nvSpPr>
        <p:spPr>
          <a:xfrm>
            <a:off x="1325880" y="2871216"/>
            <a:ext cx="2468880" cy="365760"/>
          </a:xfrm>
          <a:prstGeom prst="rect">
            <a:avLst/>
          </a:prstGeom>
          <a:noFill/>
          <a:ln/>
        </p:spPr>
        <p:txBody>
          <a:bodyPr wrap="square" lIns="0" tIns="0" rIns="0" bIns="0" rtlCol="0" anchor="ctr"/>
          <a:lstStyle/>
          <a:p>
            <a:pPr indent="0" marL="0">
              <a:buNone/>
            </a:pPr>
            <a:r>
              <a:rPr lang="en-US" sz="1200" dirty="0">
                <a:solidFill>
                  <a:srgbClr val="2F3C7E"/>
                </a:solidFill>
                <a:latin typeface="Calibri" pitchFamily="34" charset="0"/>
                <a:ea typeface="Calibri" pitchFamily="34" charset="-122"/>
                <a:cs typeface="Calibri" pitchFamily="34" charset="-120"/>
              </a:rPr>
              <a:t>1 feed post</a:t>
            </a:r>
            <a:endParaRPr lang="en-US" sz="1200" dirty="0"/>
          </a:p>
        </p:txBody>
      </p:sp>
      <p:pic>
        <p:nvPicPr>
          <p:cNvPr id="8" name="Image 1" descr="preencoded.png">    </p:cNvPr>
          <p:cNvPicPr>
            <a:picLocks noChangeAspect="1"/>
          </p:cNvPicPr>
          <p:nvPr/>
        </p:nvPicPr>
        <p:blipFill>
          <a:blip r:embed="rId2"/>
          <a:stretch>
            <a:fillRect/>
          </a:stretch>
        </p:blipFill>
        <p:spPr>
          <a:xfrm>
            <a:off x="960120" y="3383280"/>
            <a:ext cx="256032" cy="256032"/>
          </a:xfrm>
          <a:prstGeom prst="rect">
            <a:avLst/>
          </a:prstGeom>
        </p:spPr>
      </p:pic>
      <p:sp>
        <p:nvSpPr>
          <p:cNvPr id="9" name="Text 5"/>
          <p:cNvSpPr/>
          <p:nvPr/>
        </p:nvSpPr>
        <p:spPr>
          <a:xfrm>
            <a:off x="1325880" y="3328416"/>
            <a:ext cx="2468880" cy="365760"/>
          </a:xfrm>
          <a:prstGeom prst="rect">
            <a:avLst/>
          </a:prstGeom>
          <a:noFill/>
          <a:ln/>
        </p:spPr>
        <p:txBody>
          <a:bodyPr wrap="square" lIns="0" tIns="0" rIns="0" bIns="0" rtlCol="0" anchor="ctr"/>
          <a:lstStyle/>
          <a:p>
            <a:pPr indent="0" marL="0">
              <a:buNone/>
            </a:pPr>
            <a:r>
              <a:rPr lang="en-US" sz="1200" dirty="0">
                <a:solidFill>
                  <a:srgbClr val="2F3C7E"/>
                </a:solidFill>
                <a:latin typeface="Calibri" pitchFamily="34" charset="0"/>
                <a:ea typeface="Calibri" pitchFamily="34" charset="-122"/>
                <a:cs typeface="Calibri" pitchFamily="34" charset="-120"/>
              </a:rPr>
              <a:t>Usage rights included</a:t>
            </a:r>
            <a:endParaRPr lang="en-US" sz="1200" dirty="0"/>
          </a:p>
        </p:txBody>
      </p:sp>
      <p:pic>
        <p:nvPicPr>
          <p:cNvPr id="10" name="Image 2" descr="preencoded.png">    </p:cNvPr>
          <p:cNvPicPr>
            <a:picLocks noChangeAspect="1"/>
          </p:cNvPicPr>
          <p:nvPr/>
        </p:nvPicPr>
        <p:blipFill>
          <a:blip r:embed="rId3"/>
          <a:stretch>
            <a:fillRect/>
          </a:stretch>
        </p:blipFill>
        <p:spPr>
          <a:xfrm>
            <a:off x="960120" y="3840480"/>
            <a:ext cx="256032" cy="256032"/>
          </a:xfrm>
          <a:prstGeom prst="rect">
            <a:avLst/>
          </a:prstGeom>
        </p:spPr>
      </p:pic>
      <p:sp>
        <p:nvSpPr>
          <p:cNvPr id="11" name="Text 6"/>
          <p:cNvSpPr/>
          <p:nvPr/>
        </p:nvSpPr>
        <p:spPr>
          <a:xfrm>
            <a:off x="1325880" y="3785616"/>
            <a:ext cx="2468880" cy="365760"/>
          </a:xfrm>
          <a:prstGeom prst="rect">
            <a:avLst/>
          </a:prstGeom>
          <a:noFill/>
          <a:ln/>
        </p:spPr>
        <p:txBody>
          <a:bodyPr wrap="square" lIns="0" tIns="0" rIns="0" bIns="0" rtlCol="0" anchor="ctr"/>
          <a:lstStyle/>
          <a:p>
            <a:pPr indent="0" marL="0">
              <a:buNone/>
            </a:pPr>
            <a:r>
              <a:rPr lang="en-US" sz="1200" dirty="0">
                <a:solidFill>
                  <a:srgbClr val="2F3C7E"/>
                </a:solidFill>
                <a:latin typeface="Calibri" pitchFamily="34" charset="0"/>
                <a:ea typeface="Calibri" pitchFamily="34" charset="-122"/>
                <a:cs typeface="Calibri" pitchFamily="34" charset="-120"/>
              </a:rPr>
              <a:t>Performance recap</a:t>
            </a:r>
            <a:endParaRPr lang="en-US" sz="1200" dirty="0"/>
          </a:p>
        </p:txBody>
      </p:sp>
      <p:sp>
        <p:nvSpPr>
          <p:cNvPr id="12" name="Shape 7"/>
          <p:cNvSpPr/>
          <p:nvPr/>
        </p:nvSpPr>
        <p:spPr>
          <a:xfrm>
            <a:off x="4389120" y="1371600"/>
            <a:ext cx="3383280" cy="4206240"/>
          </a:xfrm>
          <a:prstGeom prst="roundRect">
            <a:avLst>
              <a:gd name="adj" fmla="val 2162"/>
            </a:avLst>
          </a:prstGeom>
          <a:solidFill>
            <a:srgbClr val="F96167"/>
          </a:solidFill>
          <a:ln/>
          <a:effectLst>
            <a:outerShdw sx="100000" sy="100000" kx="0" ky="0" algn="bl" rotWithShape="0" blurRad="76200" dist="38100" dir="5400000">
              <a:srgbClr val="000000">
                <a:alpha val="15000"/>
              </a:srgbClr>
            </a:outerShdw>
          </a:effectLst>
        </p:spPr>
      </p:sp>
      <p:sp>
        <p:nvSpPr>
          <p:cNvPr id="13" name="Text 8"/>
          <p:cNvSpPr/>
          <p:nvPr/>
        </p:nvSpPr>
        <p:spPr>
          <a:xfrm>
            <a:off x="4663440" y="1645920"/>
            <a:ext cx="283464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Campaign</a:t>
            </a:r>
            <a:endParaRPr lang="en-US" sz="2000" dirty="0"/>
          </a:p>
        </p:txBody>
      </p:sp>
      <p:sp>
        <p:nvSpPr>
          <p:cNvPr id="14" name="Text 9"/>
          <p:cNvSpPr/>
          <p:nvPr/>
        </p:nvSpPr>
        <p:spPr>
          <a:xfrm>
            <a:off x="4663440" y="2148840"/>
            <a:ext cx="28346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t>
            </a:r>
            <a:endParaRPr lang="en-US" sz="3000" dirty="0"/>
          </a:p>
        </p:txBody>
      </p:sp>
      <p:pic>
        <p:nvPicPr>
          <p:cNvPr id="15" name="Image 3" descr="preencoded.png">    </p:cNvPr>
          <p:cNvPicPr>
            <a:picLocks noChangeAspect="1"/>
          </p:cNvPicPr>
          <p:nvPr/>
        </p:nvPicPr>
        <p:blipFill>
          <a:blip r:embed="rId4"/>
          <a:stretch>
            <a:fillRect/>
          </a:stretch>
        </p:blipFill>
        <p:spPr>
          <a:xfrm>
            <a:off x="4663440" y="2926080"/>
            <a:ext cx="256032" cy="256032"/>
          </a:xfrm>
          <a:prstGeom prst="rect">
            <a:avLst/>
          </a:prstGeom>
        </p:spPr>
      </p:pic>
      <p:sp>
        <p:nvSpPr>
          <p:cNvPr id="16" name="Text 10"/>
          <p:cNvSpPr/>
          <p:nvPr/>
        </p:nvSpPr>
        <p:spPr>
          <a:xfrm>
            <a:off x="5029200" y="2871216"/>
            <a:ext cx="24688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feed posts</a:t>
            </a:r>
            <a:endParaRPr lang="en-US" sz="1200" dirty="0"/>
          </a:p>
        </p:txBody>
      </p:sp>
      <p:pic>
        <p:nvPicPr>
          <p:cNvPr id="17" name="Image 4" descr="preencoded.png">    </p:cNvPr>
          <p:cNvPicPr>
            <a:picLocks noChangeAspect="1"/>
          </p:cNvPicPr>
          <p:nvPr/>
        </p:nvPicPr>
        <p:blipFill>
          <a:blip r:embed="rId5"/>
          <a:stretch>
            <a:fillRect/>
          </a:stretch>
        </p:blipFill>
        <p:spPr>
          <a:xfrm>
            <a:off x="4663440" y="3383280"/>
            <a:ext cx="256032" cy="256032"/>
          </a:xfrm>
          <a:prstGeom prst="rect">
            <a:avLst/>
          </a:prstGeom>
        </p:spPr>
      </p:pic>
      <p:sp>
        <p:nvSpPr>
          <p:cNvPr id="18" name="Text 11"/>
          <p:cNvSpPr/>
          <p:nvPr/>
        </p:nvSpPr>
        <p:spPr>
          <a:xfrm>
            <a:off x="5029200" y="3328416"/>
            <a:ext cx="24688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5 Story frames</a:t>
            </a:r>
            <a:endParaRPr lang="en-US" sz="1200" dirty="0"/>
          </a:p>
        </p:txBody>
      </p:sp>
      <p:pic>
        <p:nvPicPr>
          <p:cNvPr id="19" name="Image 5" descr="preencoded.png">    </p:cNvPr>
          <p:cNvPicPr>
            <a:picLocks noChangeAspect="1"/>
          </p:cNvPicPr>
          <p:nvPr/>
        </p:nvPicPr>
        <p:blipFill>
          <a:blip r:embed="rId6"/>
          <a:stretch>
            <a:fillRect/>
          </a:stretch>
        </p:blipFill>
        <p:spPr>
          <a:xfrm>
            <a:off x="4663440" y="3840480"/>
            <a:ext cx="256032" cy="256032"/>
          </a:xfrm>
          <a:prstGeom prst="rect">
            <a:avLst/>
          </a:prstGeom>
        </p:spPr>
      </p:pic>
      <p:sp>
        <p:nvSpPr>
          <p:cNvPr id="20" name="Text 12"/>
          <p:cNvSpPr/>
          <p:nvPr/>
        </p:nvSpPr>
        <p:spPr>
          <a:xfrm>
            <a:off x="5029200" y="3785616"/>
            <a:ext cx="24688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Performance report</a:t>
            </a:r>
            <a:endParaRPr lang="en-US" sz="1200" dirty="0"/>
          </a:p>
        </p:txBody>
      </p:sp>
      <p:sp>
        <p:nvSpPr>
          <p:cNvPr id="21" name="Shape 13"/>
          <p:cNvSpPr/>
          <p:nvPr/>
        </p:nvSpPr>
        <p:spPr>
          <a:xfrm>
            <a:off x="8092440" y="1371600"/>
            <a:ext cx="3383280" cy="4206240"/>
          </a:xfrm>
          <a:prstGeom prst="roundRect">
            <a:avLst>
              <a:gd name="adj" fmla="val 2162"/>
            </a:avLst>
          </a:prstGeom>
          <a:solidFill>
            <a:srgbClr val="FFFFFF"/>
          </a:solidFill>
          <a:ln/>
          <a:effectLst>
            <a:outerShdw sx="100000" sy="100000" kx="0" ky="0" algn="bl" rotWithShape="0" blurRad="76200" dist="38100" dir="5400000">
              <a:srgbClr val="000000">
                <a:alpha val="15000"/>
              </a:srgbClr>
            </a:outerShdw>
          </a:effectLst>
        </p:spPr>
      </p:sp>
      <p:sp>
        <p:nvSpPr>
          <p:cNvPr id="22" name="Text 14"/>
          <p:cNvSpPr/>
          <p:nvPr/>
        </p:nvSpPr>
        <p:spPr>
          <a:xfrm>
            <a:off x="8366760" y="1645920"/>
            <a:ext cx="2834640" cy="457200"/>
          </a:xfrm>
          <a:prstGeom prst="rect">
            <a:avLst/>
          </a:prstGeom>
          <a:noFill/>
          <a:ln/>
        </p:spPr>
        <p:txBody>
          <a:bodyPr wrap="square" lIns="0" tIns="0" rIns="0" bIns="0" rtlCol="0" anchor="ctr"/>
          <a:lstStyle/>
          <a:p>
            <a:pPr indent="0" marL="0">
              <a:buNone/>
            </a:pPr>
            <a:r>
              <a:rPr lang="en-US" sz="2000" b="1" dirty="0">
                <a:solidFill>
                  <a:srgbClr val="2F3C7E"/>
                </a:solidFill>
                <a:latin typeface="Cambria" pitchFamily="34" charset="0"/>
                <a:ea typeface="Cambria" pitchFamily="34" charset="-122"/>
                <a:cs typeface="Cambria" pitchFamily="34" charset="-120"/>
              </a:rPr>
              <a:t>Ambassador</a:t>
            </a:r>
            <a:endParaRPr lang="en-US" sz="2000" dirty="0"/>
          </a:p>
        </p:txBody>
      </p:sp>
      <p:sp>
        <p:nvSpPr>
          <p:cNvPr id="23" name="Text 15"/>
          <p:cNvSpPr/>
          <p:nvPr/>
        </p:nvSpPr>
        <p:spPr>
          <a:xfrm>
            <a:off x="8366760" y="2148840"/>
            <a:ext cx="2834640" cy="54864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Quote</a:t>
            </a:r>
            <a:endParaRPr lang="en-US" sz="3000" dirty="0"/>
          </a:p>
        </p:txBody>
      </p:sp>
      <p:pic>
        <p:nvPicPr>
          <p:cNvPr id="24" name="Image 6" descr="preencoded.png">    </p:cNvPr>
          <p:cNvPicPr>
            <a:picLocks noChangeAspect="1"/>
          </p:cNvPicPr>
          <p:nvPr/>
        </p:nvPicPr>
        <p:blipFill>
          <a:blip r:embed="rId7"/>
          <a:stretch>
            <a:fillRect/>
          </a:stretch>
        </p:blipFill>
        <p:spPr>
          <a:xfrm>
            <a:off x="8366760" y="2926080"/>
            <a:ext cx="256032" cy="256032"/>
          </a:xfrm>
          <a:prstGeom prst="rect">
            <a:avLst/>
          </a:prstGeom>
        </p:spPr>
      </p:pic>
      <p:sp>
        <p:nvSpPr>
          <p:cNvPr id="25" name="Text 16"/>
          <p:cNvSpPr/>
          <p:nvPr/>
        </p:nvSpPr>
        <p:spPr>
          <a:xfrm>
            <a:off x="8732520" y="2871216"/>
            <a:ext cx="2468880" cy="365760"/>
          </a:xfrm>
          <a:prstGeom prst="rect">
            <a:avLst/>
          </a:prstGeom>
          <a:noFill/>
          <a:ln/>
        </p:spPr>
        <p:txBody>
          <a:bodyPr wrap="square" lIns="0" tIns="0" rIns="0" bIns="0" rtlCol="0" anchor="ctr"/>
          <a:lstStyle/>
          <a:p>
            <a:pPr indent="0" marL="0">
              <a:buNone/>
            </a:pPr>
            <a:r>
              <a:rPr lang="en-US" sz="1200" dirty="0">
                <a:solidFill>
                  <a:srgbClr val="2F3C7E"/>
                </a:solidFill>
                <a:latin typeface="Calibri" pitchFamily="34" charset="0"/>
                <a:ea typeface="Calibri" pitchFamily="34" charset="-122"/>
                <a:cs typeface="Calibri" pitchFamily="34" charset="-120"/>
              </a:rPr>
              <a:t>Monthly content</a:t>
            </a:r>
            <a:endParaRPr lang="en-US" sz="1200" dirty="0"/>
          </a:p>
        </p:txBody>
      </p:sp>
      <p:pic>
        <p:nvPicPr>
          <p:cNvPr id="26" name="Image 7" descr="preencoded.png">    </p:cNvPr>
          <p:cNvPicPr>
            <a:picLocks noChangeAspect="1"/>
          </p:cNvPicPr>
          <p:nvPr/>
        </p:nvPicPr>
        <p:blipFill>
          <a:blip r:embed="rId8"/>
          <a:stretch>
            <a:fillRect/>
          </a:stretch>
        </p:blipFill>
        <p:spPr>
          <a:xfrm>
            <a:off x="8366760" y="3383280"/>
            <a:ext cx="256032" cy="256032"/>
          </a:xfrm>
          <a:prstGeom prst="rect">
            <a:avLst/>
          </a:prstGeom>
        </p:spPr>
      </p:pic>
      <p:sp>
        <p:nvSpPr>
          <p:cNvPr id="27" name="Text 17"/>
          <p:cNvSpPr/>
          <p:nvPr/>
        </p:nvSpPr>
        <p:spPr>
          <a:xfrm>
            <a:off x="8732520" y="3328416"/>
            <a:ext cx="2468880" cy="365760"/>
          </a:xfrm>
          <a:prstGeom prst="rect">
            <a:avLst/>
          </a:prstGeom>
          <a:noFill/>
          <a:ln/>
        </p:spPr>
        <p:txBody>
          <a:bodyPr wrap="square" lIns="0" tIns="0" rIns="0" bIns="0" rtlCol="0" anchor="ctr"/>
          <a:lstStyle/>
          <a:p>
            <a:pPr indent="0" marL="0">
              <a:buNone/>
            </a:pPr>
            <a:r>
              <a:rPr lang="en-US" sz="1200" dirty="0">
                <a:solidFill>
                  <a:srgbClr val="2F3C7E"/>
                </a:solidFill>
                <a:latin typeface="Calibri" pitchFamily="34" charset="0"/>
                <a:ea typeface="Calibri" pitchFamily="34" charset="-122"/>
                <a:cs typeface="Calibri" pitchFamily="34" charset="-120"/>
              </a:rPr>
              <a:t>Exclusive discount code</a:t>
            </a:r>
            <a:endParaRPr lang="en-US" sz="1200" dirty="0"/>
          </a:p>
        </p:txBody>
      </p:sp>
      <p:pic>
        <p:nvPicPr>
          <p:cNvPr id="28" name="Image 8" descr="preencoded.png">    </p:cNvPr>
          <p:cNvPicPr>
            <a:picLocks noChangeAspect="1"/>
          </p:cNvPicPr>
          <p:nvPr/>
        </p:nvPicPr>
        <p:blipFill>
          <a:blip r:embed="rId9"/>
          <a:stretch>
            <a:fillRect/>
          </a:stretch>
        </p:blipFill>
        <p:spPr>
          <a:xfrm>
            <a:off x="8366760" y="3840480"/>
            <a:ext cx="256032" cy="256032"/>
          </a:xfrm>
          <a:prstGeom prst="rect">
            <a:avLst/>
          </a:prstGeom>
        </p:spPr>
      </p:pic>
      <p:sp>
        <p:nvSpPr>
          <p:cNvPr id="29" name="Text 18"/>
          <p:cNvSpPr/>
          <p:nvPr/>
        </p:nvSpPr>
        <p:spPr>
          <a:xfrm>
            <a:off x="8732520" y="3785616"/>
            <a:ext cx="2468880" cy="365760"/>
          </a:xfrm>
          <a:prstGeom prst="rect">
            <a:avLst/>
          </a:prstGeom>
          <a:noFill/>
          <a:ln/>
        </p:spPr>
        <p:txBody>
          <a:bodyPr wrap="square" lIns="0" tIns="0" rIns="0" bIns="0" rtlCol="0" anchor="ctr"/>
          <a:lstStyle/>
          <a:p>
            <a:pPr indent="0" marL="0">
              <a:buNone/>
            </a:pPr>
            <a:r>
              <a:rPr lang="en-US" sz="1200" dirty="0">
                <a:solidFill>
                  <a:srgbClr val="2F3C7E"/>
                </a:solidFill>
                <a:latin typeface="Calibri" pitchFamily="34" charset="0"/>
                <a:ea typeface="Calibri" pitchFamily="34" charset="-122"/>
                <a:cs typeface="Calibri" pitchFamily="34" charset="-120"/>
              </a:rPr>
              <a:t>Quarterly strategy call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Brand Feedback</a:t>
            </a:r>
            <a:endParaRPr lang="en-US" sz="3200" dirty="0"/>
          </a:p>
        </p:txBody>
      </p:sp>
      <p:sp>
        <p:nvSpPr>
          <p:cNvPr id="3" name="Shape 1"/>
          <p:cNvSpPr/>
          <p:nvPr/>
        </p:nvSpPr>
        <p:spPr>
          <a:xfrm>
            <a:off x="548640" y="1737360"/>
            <a:ext cx="3520440" cy="4023360"/>
          </a:xfrm>
          <a:prstGeom prst="roundRect">
            <a:avLst>
              <a:gd name="adj" fmla="val 1558"/>
            </a:avLst>
          </a:prstGeom>
          <a:solidFill>
            <a:srgbClr val="FCEEEE"/>
          </a:solidFill>
          <a:ln/>
          <a:effectLst>
            <a:outerShdw sx="100000" sy="100000" kx="0" ky="0" algn="bl" rotWithShape="0" blurRad="76200" dist="38100" dir="5400000">
              <a:srgbClr val="000000">
                <a:alpha val="15000"/>
              </a:srgbClr>
            </a:outerShdw>
          </a:effectLst>
        </p:spPr>
      </p:sp>
      <p:pic>
        <p:nvPicPr>
          <p:cNvPr id="4" name="Image 0" descr="preencoded.png">    </p:cNvPr>
          <p:cNvPicPr>
            <a:picLocks noChangeAspect="1"/>
          </p:cNvPicPr>
          <p:nvPr/>
        </p:nvPicPr>
        <p:blipFill>
          <a:blip r:embed="rId1"/>
          <a:stretch>
            <a:fillRect/>
          </a:stretch>
        </p:blipFill>
        <p:spPr>
          <a:xfrm>
            <a:off x="868680" y="2103120"/>
            <a:ext cx="256032" cy="256032"/>
          </a:xfrm>
          <a:prstGeom prst="rect">
            <a:avLst/>
          </a:prstGeom>
        </p:spPr>
      </p:pic>
      <p:pic>
        <p:nvPicPr>
          <p:cNvPr id="5" name="Image 1" descr="preencoded.png">    </p:cNvPr>
          <p:cNvPicPr>
            <a:picLocks noChangeAspect="1"/>
          </p:cNvPicPr>
          <p:nvPr/>
        </p:nvPicPr>
        <p:blipFill>
          <a:blip r:embed="rId2"/>
          <a:stretch>
            <a:fillRect/>
          </a:stretch>
        </p:blipFill>
        <p:spPr>
          <a:xfrm>
            <a:off x="1179576" y="2103120"/>
            <a:ext cx="256032" cy="256032"/>
          </a:xfrm>
          <a:prstGeom prst="rect">
            <a:avLst/>
          </a:prstGeom>
        </p:spPr>
      </p:pic>
      <p:pic>
        <p:nvPicPr>
          <p:cNvPr id="6" name="Image 2" descr="preencoded.png">    </p:cNvPr>
          <p:cNvPicPr>
            <a:picLocks noChangeAspect="1"/>
          </p:cNvPicPr>
          <p:nvPr/>
        </p:nvPicPr>
        <p:blipFill>
          <a:blip r:embed="rId3"/>
          <a:stretch>
            <a:fillRect/>
          </a:stretch>
        </p:blipFill>
        <p:spPr>
          <a:xfrm>
            <a:off x="1490472" y="2103120"/>
            <a:ext cx="256032" cy="256032"/>
          </a:xfrm>
          <a:prstGeom prst="rect">
            <a:avLst/>
          </a:prstGeom>
        </p:spPr>
      </p:pic>
      <p:pic>
        <p:nvPicPr>
          <p:cNvPr id="7" name="Image 3" descr="preencoded.png">    </p:cNvPr>
          <p:cNvPicPr>
            <a:picLocks noChangeAspect="1"/>
          </p:cNvPicPr>
          <p:nvPr/>
        </p:nvPicPr>
        <p:blipFill>
          <a:blip r:embed="rId4"/>
          <a:stretch>
            <a:fillRect/>
          </a:stretch>
        </p:blipFill>
        <p:spPr>
          <a:xfrm>
            <a:off x="1801368" y="2103120"/>
            <a:ext cx="256032" cy="256032"/>
          </a:xfrm>
          <a:prstGeom prst="rect">
            <a:avLst/>
          </a:prstGeom>
        </p:spPr>
      </p:pic>
      <p:pic>
        <p:nvPicPr>
          <p:cNvPr id="8" name="Image 4" descr="preencoded.png">    </p:cNvPr>
          <p:cNvPicPr>
            <a:picLocks noChangeAspect="1"/>
          </p:cNvPicPr>
          <p:nvPr/>
        </p:nvPicPr>
        <p:blipFill>
          <a:blip r:embed="rId5"/>
          <a:stretch>
            <a:fillRect/>
          </a:stretch>
        </p:blipFill>
        <p:spPr>
          <a:xfrm>
            <a:off x="2112264" y="2103120"/>
            <a:ext cx="256032" cy="256032"/>
          </a:xfrm>
          <a:prstGeom prst="rect">
            <a:avLst/>
          </a:prstGeom>
        </p:spPr>
      </p:pic>
      <p:sp>
        <p:nvSpPr>
          <p:cNvPr id="9" name="Text 2"/>
          <p:cNvSpPr/>
          <p:nvPr/>
        </p:nvSpPr>
        <p:spPr>
          <a:xfrm>
            <a:off x="868680" y="2606040"/>
            <a:ext cx="2880360" cy="2468880"/>
          </a:xfrm>
          <a:prstGeom prst="rect">
            <a:avLst/>
          </a:prstGeom>
          <a:noFill/>
          <a:ln/>
        </p:spPr>
        <p:txBody>
          <a:bodyPr wrap="square" lIns="0" tIns="0" rIns="0" bIns="0" rtlCol="0" anchor="t"/>
          <a:lstStyle/>
          <a:p>
            <a:pPr indent="0" marL="0">
              <a:buNone/>
            </a:pPr>
            <a:r>
              <a:rPr lang="en-US" sz="1400" i="1" dirty="0">
                <a:solidFill>
                  <a:srgbClr val="2F3C7E"/>
                </a:solidFill>
                <a:latin typeface="Calibri" pitchFamily="34" charset="0"/>
                <a:ea typeface="Calibri" pitchFamily="34" charset="-122"/>
                <a:cs typeface="Calibri" pitchFamily="34" charset="-120"/>
              </a:rPr>
              <a:t>"Engagement on the campaign blew our other influencer partners out of the water."</a:t>
            </a:r>
            <a:endParaRPr lang="en-US" sz="1400" dirty="0"/>
          </a:p>
        </p:txBody>
      </p:sp>
      <p:sp>
        <p:nvSpPr>
          <p:cNvPr id="10" name="Text 3"/>
          <p:cNvSpPr/>
          <p:nvPr/>
        </p:nvSpPr>
        <p:spPr>
          <a:xfrm>
            <a:off x="868680" y="5166360"/>
            <a:ext cx="2880360" cy="36576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 Brand Partner</a:t>
            </a:r>
            <a:endParaRPr lang="en-US" sz="1300" dirty="0"/>
          </a:p>
        </p:txBody>
      </p:sp>
      <p:sp>
        <p:nvSpPr>
          <p:cNvPr id="11" name="Shape 4"/>
          <p:cNvSpPr/>
          <p:nvPr/>
        </p:nvSpPr>
        <p:spPr>
          <a:xfrm>
            <a:off x="4389120" y="1737360"/>
            <a:ext cx="3520440" cy="4023360"/>
          </a:xfrm>
          <a:prstGeom prst="roundRect">
            <a:avLst>
              <a:gd name="adj" fmla="val 1558"/>
            </a:avLst>
          </a:prstGeom>
          <a:solidFill>
            <a:srgbClr val="FCEEEE"/>
          </a:solidFill>
          <a:ln/>
          <a:effectLst>
            <a:outerShdw sx="100000" sy="100000" kx="0" ky="0" algn="bl" rotWithShape="0" blurRad="76200" dist="38100" dir="5400000">
              <a:srgbClr val="000000">
                <a:alpha val="15000"/>
              </a:srgbClr>
            </a:outerShdw>
          </a:effectLst>
        </p:spPr>
      </p:sp>
      <p:pic>
        <p:nvPicPr>
          <p:cNvPr id="12" name="Image 5" descr="preencoded.png">    </p:cNvPr>
          <p:cNvPicPr>
            <a:picLocks noChangeAspect="1"/>
          </p:cNvPicPr>
          <p:nvPr/>
        </p:nvPicPr>
        <p:blipFill>
          <a:blip r:embed="rId6"/>
          <a:stretch>
            <a:fillRect/>
          </a:stretch>
        </p:blipFill>
        <p:spPr>
          <a:xfrm>
            <a:off x="4709160" y="2103120"/>
            <a:ext cx="256032" cy="256032"/>
          </a:xfrm>
          <a:prstGeom prst="rect">
            <a:avLst/>
          </a:prstGeom>
        </p:spPr>
      </p:pic>
      <p:pic>
        <p:nvPicPr>
          <p:cNvPr id="13" name="Image 6" descr="preencoded.png">    </p:cNvPr>
          <p:cNvPicPr>
            <a:picLocks noChangeAspect="1"/>
          </p:cNvPicPr>
          <p:nvPr/>
        </p:nvPicPr>
        <p:blipFill>
          <a:blip r:embed="rId7"/>
          <a:stretch>
            <a:fillRect/>
          </a:stretch>
        </p:blipFill>
        <p:spPr>
          <a:xfrm>
            <a:off x="5020056" y="2103120"/>
            <a:ext cx="256032" cy="256032"/>
          </a:xfrm>
          <a:prstGeom prst="rect">
            <a:avLst/>
          </a:prstGeom>
        </p:spPr>
      </p:pic>
      <p:pic>
        <p:nvPicPr>
          <p:cNvPr id="14" name="Image 7" descr="preencoded.png">    </p:cNvPr>
          <p:cNvPicPr>
            <a:picLocks noChangeAspect="1"/>
          </p:cNvPicPr>
          <p:nvPr/>
        </p:nvPicPr>
        <p:blipFill>
          <a:blip r:embed="rId8"/>
          <a:stretch>
            <a:fillRect/>
          </a:stretch>
        </p:blipFill>
        <p:spPr>
          <a:xfrm>
            <a:off x="5330952" y="2103120"/>
            <a:ext cx="256032" cy="256032"/>
          </a:xfrm>
          <a:prstGeom prst="rect">
            <a:avLst/>
          </a:prstGeom>
        </p:spPr>
      </p:pic>
      <p:pic>
        <p:nvPicPr>
          <p:cNvPr id="15" name="Image 8" descr="preencoded.png">    </p:cNvPr>
          <p:cNvPicPr>
            <a:picLocks noChangeAspect="1"/>
          </p:cNvPicPr>
          <p:nvPr/>
        </p:nvPicPr>
        <p:blipFill>
          <a:blip r:embed="rId9"/>
          <a:stretch>
            <a:fillRect/>
          </a:stretch>
        </p:blipFill>
        <p:spPr>
          <a:xfrm>
            <a:off x="5641848" y="2103120"/>
            <a:ext cx="256032" cy="256032"/>
          </a:xfrm>
          <a:prstGeom prst="rect">
            <a:avLst/>
          </a:prstGeom>
        </p:spPr>
      </p:pic>
      <p:pic>
        <p:nvPicPr>
          <p:cNvPr id="16" name="Image 9" descr="preencoded.png">    </p:cNvPr>
          <p:cNvPicPr>
            <a:picLocks noChangeAspect="1"/>
          </p:cNvPicPr>
          <p:nvPr/>
        </p:nvPicPr>
        <p:blipFill>
          <a:blip r:embed="rId10"/>
          <a:stretch>
            <a:fillRect/>
          </a:stretch>
        </p:blipFill>
        <p:spPr>
          <a:xfrm>
            <a:off x="5952744" y="2103120"/>
            <a:ext cx="256032" cy="256032"/>
          </a:xfrm>
          <a:prstGeom prst="rect">
            <a:avLst/>
          </a:prstGeom>
        </p:spPr>
      </p:pic>
      <p:sp>
        <p:nvSpPr>
          <p:cNvPr id="17" name="Text 5"/>
          <p:cNvSpPr/>
          <p:nvPr/>
        </p:nvSpPr>
        <p:spPr>
          <a:xfrm>
            <a:off x="4709160" y="2606040"/>
            <a:ext cx="2880360" cy="2468880"/>
          </a:xfrm>
          <a:prstGeom prst="rect">
            <a:avLst/>
          </a:prstGeom>
          <a:noFill/>
          <a:ln/>
        </p:spPr>
        <p:txBody>
          <a:bodyPr wrap="square" lIns="0" tIns="0" rIns="0" bIns="0" rtlCol="0" anchor="t"/>
          <a:lstStyle/>
          <a:p>
            <a:pPr indent="0" marL="0">
              <a:buNone/>
            </a:pPr>
            <a:r>
              <a:rPr lang="en-US" sz="1400" i="1" dirty="0">
                <a:solidFill>
                  <a:srgbClr val="2F3C7E"/>
                </a:solidFill>
                <a:latin typeface="Calibri" pitchFamily="34" charset="0"/>
                <a:ea typeface="Calibri" pitchFamily="34" charset="-122"/>
                <a:cs typeface="Calibri" pitchFamily="34" charset="-120"/>
              </a:rPr>
              <a:t>"Professional, on-time, and the content felt authentic to their audience."</a:t>
            </a:r>
            <a:endParaRPr lang="en-US" sz="1400" dirty="0"/>
          </a:p>
        </p:txBody>
      </p:sp>
      <p:sp>
        <p:nvSpPr>
          <p:cNvPr id="18" name="Text 6"/>
          <p:cNvSpPr/>
          <p:nvPr/>
        </p:nvSpPr>
        <p:spPr>
          <a:xfrm>
            <a:off x="4709160" y="5166360"/>
            <a:ext cx="2880360" cy="36576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 Marketing Lead</a:t>
            </a:r>
            <a:endParaRPr lang="en-US" sz="1300" dirty="0"/>
          </a:p>
        </p:txBody>
      </p:sp>
      <p:sp>
        <p:nvSpPr>
          <p:cNvPr id="19" name="Shape 7"/>
          <p:cNvSpPr/>
          <p:nvPr/>
        </p:nvSpPr>
        <p:spPr>
          <a:xfrm>
            <a:off x="8229600" y="1737360"/>
            <a:ext cx="3520440" cy="4023360"/>
          </a:xfrm>
          <a:prstGeom prst="roundRect">
            <a:avLst>
              <a:gd name="adj" fmla="val 1558"/>
            </a:avLst>
          </a:prstGeom>
          <a:solidFill>
            <a:srgbClr val="FCEEEE"/>
          </a:solidFill>
          <a:ln/>
          <a:effectLst>
            <a:outerShdw sx="100000" sy="100000" kx="0" ky="0" algn="bl" rotWithShape="0" blurRad="76200" dist="38100" dir="5400000">
              <a:srgbClr val="000000">
                <a:alpha val="15000"/>
              </a:srgbClr>
            </a:outerShdw>
          </a:effectLst>
        </p:spPr>
      </p:sp>
      <p:pic>
        <p:nvPicPr>
          <p:cNvPr id="20" name="Image 10" descr="preencoded.png">    </p:cNvPr>
          <p:cNvPicPr>
            <a:picLocks noChangeAspect="1"/>
          </p:cNvPicPr>
          <p:nvPr/>
        </p:nvPicPr>
        <p:blipFill>
          <a:blip r:embed="rId11"/>
          <a:stretch>
            <a:fillRect/>
          </a:stretch>
        </p:blipFill>
        <p:spPr>
          <a:xfrm>
            <a:off x="8549640" y="2103120"/>
            <a:ext cx="256032" cy="256032"/>
          </a:xfrm>
          <a:prstGeom prst="rect">
            <a:avLst/>
          </a:prstGeom>
        </p:spPr>
      </p:pic>
      <p:pic>
        <p:nvPicPr>
          <p:cNvPr id="21" name="Image 11" descr="preencoded.png">    </p:cNvPr>
          <p:cNvPicPr>
            <a:picLocks noChangeAspect="1"/>
          </p:cNvPicPr>
          <p:nvPr/>
        </p:nvPicPr>
        <p:blipFill>
          <a:blip r:embed="rId12"/>
          <a:stretch>
            <a:fillRect/>
          </a:stretch>
        </p:blipFill>
        <p:spPr>
          <a:xfrm>
            <a:off x="8860536" y="2103120"/>
            <a:ext cx="256032" cy="256032"/>
          </a:xfrm>
          <a:prstGeom prst="rect">
            <a:avLst/>
          </a:prstGeom>
        </p:spPr>
      </p:pic>
      <p:pic>
        <p:nvPicPr>
          <p:cNvPr id="22" name="Image 12" descr="preencoded.png">    </p:cNvPr>
          <p:cNvPicPr>
            <a:picLocks noChangeAspect="1"/>
          </p:cNvPicPr>
          <p:nvPr/>
        </p:nvPicPr>
        <p:blipFill>
          <a:blip r:embed="rId13"/>
          <a:stretch>
            <a:fillRect/>
          </a:stretch>
        </p:blipFill>
        <p:spPr>
          <a:xfrm>
            <a:off x="9171432" y="2103120"/>
            <a:ext cx="256032" cy="256032"/>
          </a:xfrm>
          <a:prstGeom prst="rect">
            <a:avLst/>
          </a:prstGeom>
        </p:spPr>
      </p:pic>
      <p:pic>
        <p:nvPicPr>
          <p:cNvPr id="23" name="Image 13" descr="preencoded.png">    </p:cNvPr>
          <p:cNvPicPr>
            <a:picLocks noChangeAspect="1"/>
          </p:cNvPicPr>
          <p:nvPr/>
        </p:nvPicPr>
        <p:blipFill>
          <a:blip r:embed="rId14"/>
          <a:stretch>
            <a:fillRect/>
          </a:stretch>
        </p:blipFill>
        <p:spPr>
          <a:xfrm>
            <a:off x="9482328" y="2103120"/>
            <a:ext cx="256032" cy="256032"/>
          </a:xfrm>
          <a:prstGeom prst="rect">
            <a:avLst/>
          </a:prstGeom>
        </p:spPr>
      </p:pic>
      <p:pic>
        <p:nvPicPr>
          <p:cNvPr id="24" name="Image 14" descr="preencoded.png">    </p:cNvPr>
          <p:cNvPicPr>
            <a:picLocks noChangeAspect="1"/>
          </p:cNvPicPr>
          <p:nvPr/>
        </p:nvPicPr>
        <p:blipFill>
          <a:blip r:embed="rId15"/>
          <a:stretch>
            <a:fillRect/>
          </a:stretch>
        </p:blipFill>
        <p:spPr>
          <a:xfrm>
            <a:off x="9793224" y="2103120"/>
            <a:ext cx="256032" cy="256032"/>
          </a:xfrm>
          <a:prstGeom prst="rect">
            <a:avLst/>
          </a:prstGeom>
        </p:spPr>
      </p:pic>
      <p:sp>
        <p:nvSpPr>
          <p:cNvPr id="25" name="Text 8"/>
          <p:cNvSpPr/>
          <p:nvPr/>
        </p:nvSpPr>
        <p:spPr>
          <a:xfrm>
            <a:off x="8549640" y="2606040"/>
            <a:ext cx="2880360" cy="2468880"/>
          </a:xfrm>
          <a:prstGeom prst="rect">
            <a:avLst/>
          </a:prstGeom>
          <a:noFill/>
          <a:ln/>
        </p:spPr>
        <p:txBody>
          <a:bodyPr wrap="square" lIns="0" tIns="0" rIns="0" bIns="0" rtlCol="0" anchor="t"/>
          <a:lstStyle/>
          <a:p>
            <a:pPr indent="0" marL="0">
              <a:buNone/>
            </a:pPr>
            <a:r>
              <a:rPr lang="en-US" sz="1400" i="1" dirty="0">
                <a:solidFill>
                  <a:srgbClr val="2F3C7E"/>
                </a:solidFill>
                <a:latin typeface="Calibri" pitchFamily="34" charset="0"/>
                <a:ea typeface="Calibri" pitchFamily="34" charset="-122"/>
                <a:cs typeface="Calibri" pitchFamily="34" charset="-120"/>
              </a:rPr>
              <a:t>"We saw a real lift in sales during the campaign window."</a:t>
            </a:r>
            <a:endParaRPr lang="en-US" sz="1400" dirty="0"/>
          </a:p>
        </p:txBody>
      </p:sp>
      <p:sp>
        <p:nvSpPr>
          <p:cNvPr id="26" name="Text 9"/>
          <p:cNvSpPr/>
          <p:nvPr/>
        </p:nvSpPr>
        <p:spPr>
          <a:xfrm>
            <a:off x="8549640" y="5166360"/>
            <a:ext cx="2880360" cy="36576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 Brand Partner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6167"/>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Audience Snapshot</a:t>
            </a:r>
            <a:endParaRPr lang="en-US" sz="3200" dirty="0"/>
          </a:p>
        </p:txBody>
      </p:sp>
      <p:sp>
        <p:nvSpPr>
          <p:cNvPr id="3" name="Text 1"/>
          <p:cNvSpPr/>
          <p:nvPr/>
        </p:nvSpPr>
        <p:spPr>
          <a:xfrm>
            <a:off x="548640" y="2834640"/>
            <a:ext cx="2651760" cy="109728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50K</a:t>
            </a:r>
            <a:endParaRPr lang="en-US" sz="5200" dirty="0"/>
          </a:p>
        </p:txBody>
      </p:sp>
      <p:sp>
        <p:nvSpPr>
          <p:cNvPr id="4" name="Text 2"/>
          <p:cNvSpPr/>
          <p:nvPr/>
        </p:nvSpPr>
        <p:spPr>
          <a:xfrm>
            <a:off x="548640" y="3931920"/>
            <a:ext cx="265176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Followers</a:t>
            </a:r>
            <a:endParaRPr lang="en-US" sz="1400" dirty="0"/>
          </a:p>
        </p:txBody>
      </p:sp>
      <p:sp>
        <p:nvSpPr>
          <p:cNvPr id="5" name="Text 3"/>
          <p:cNvSpPr/>
          <p:nvPr/>
        </p:nvSpPr>
        <p:spPr>
          <a:xfrm>
            <a:off x="3429000" y="2834640"/>
            <a:ext cx="2651760" cy="109728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6.2%</a:t>
            </a:r>
            <a:endParaRPr lang="en-US" sz="5200" dirty="0"/>
          </a:p>
        </p:txBody>
      </p:sp>
      <p:sp>
        <p:nvSpPr>
          <p:cNvPr id="6" name="Text 4"/>
          <p:cNvSpPr/>
          <p:nvPr/>
        </p:nvSpPr>
        <p:spPr>
          <a:xfrm>
            <a:off x="3429000" y="3931920"/>
            <a:ext cx="265176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Engagement Rate</a:t>
            </a:r>
            <a:endParaRPr lang="en-US" sz="1400" dirty="0"/>
          </a:p>
        </p:txBody>
      </p:sp>
      <p:sp>
        <p:nvSpPr>
          <p:cNvPr id="7" name="Text 5"/>
          <p:cNvSpPr/>
          <p:nvPr/>
        </p:nvSpPr>
        <p:spPr>
          <a:xfrm>
            <a:off x="6309360" y="2834640"/>
            <a:ext cx="2651760" cy="109728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250K</a:t>
            </a:r>
            <a:endParaRPr lang="en-US" sz="5200" dirty="0"/>
          </a:p>
        </p:txBody>
      </p:sp>
      <p:sp>
        <p:nvSpPr>
          <p:cNvPr id="8" name="Text 6"/>
          <p:cNvSpPr/>
          <p:nvPr/>
        </p:nvSpPr>
        <p:spPr>
          <a:xfrm>
            <a:off x="6309360" y="3931920"/>
            <a:ext cx="265176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Avg. Monthly Reach</a:t>
            </a:r>
            <a:endParaRPr lang="en-US" sz="1400" dirty="0"/>
          </a:p>
        </p:txBody>
      </p:sp>
      <p:sp>
        <p:nvSpPr>
          <p:cNvPr id="9" name="Text 7"/>
          <p:cNvSpPr/>
          <p:nvPr/>
        </p:nvSpPr>
        <p:spPr>
          <a:xfrm>
            <a:off x="9189720" y="2834640"/>
            <a:ext cx="2651760" cy="109728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18-34</a:t>
            </a:r>
            <a:endParaRPr lang="en-US" sz="5200" dirty="0"/>
          </a:p>
        </p:txBody>
      </p:sp>
      <p:sp>
        <p:nvSpPr>
          <p:cNvPr id="10" name="Text 8"/>
          <p:cNvSpPr/>
          <p:nvPr/>
        </p:nvSpPr>
        <p:spPr>
          <a:xfrm>
            <a:off x="9189720" y="3931920"/>
            <a:ext cx="2651760" cy="4572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Core Age Range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How We'll Work Together</a:t>
            </a:r>
            <a:endParaRPr lang="en-US" sz="3200" dirty="0"/>
          </a:p>
        </p:txBody>
      </p:sp>
      <p:sp>
        <p:nvSpPr>
          <p:cNvPr id="3" name="Shape 1"/>
          <p:cNvSpPr/>
          <p:nvPr/>
        </p:nvSpPr>
        <p:spPr>
          <a:xfrm>
            <a:off x="548640" y="2651760"/>
            <a:ext cx="731520" cy="731520"/>
          </a:xfrm>
          <a:prstGeom prst="ellipse">
            <a:avLst/>
          </a:prstGeom>
          <a:solidFill>
            <a:srgbClr val="F96167"/>
          </a:solidFill>
          <a:ln/>
        </p:spPr>
      </p:sp>
      <p:sp>
        <p:nvSpPr>
          <p:cNvPr id="4" name="Text 2"/>
          <p:cNvSpPr/>
          <p:nvPr/>
        </p:nvSpPr>
        <p:spPr>
          <a:xfrm>
            <a:off x="548640" y="26517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5" name="Text 3"/>
          <p:cNvSpPr/>
          <p:nvPr/>
        </p:nvSpPr>
        <p:spPr>
          <a:xfrm>
            <a:off x="548640" y="3566160"/>
            <a:ext cx="2606040" cy="45720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Discovery Call</a:t>
            </a:r>
            <a:endParaRPr lang="en-US" sz="1600" dirty="0"/>
          </a:p>
        </p:txBody>
      </p:sp>
      <p:sp>
        <p:nvSpPr>
          <p:cNvPr id="6" name="Text 4"/>
          <p:cNvSpPr/>
          <p:nvPr/>
        </p:nvSpPr>
        <p:spPr>
          <a:xfrm>
            <a:off x="548640" y="4023360"/>
            <a:ext cx="2606040" cy="1280160"/>
          </a:xfrm>
          <a:prstGeom prst="rect">
            <a:avLst/>
          </a:prstGeom>
          <a:noFill/>
          <a:ln/>
        </p:spPr>
        <p:txBody>
          <a:bodyPr wrap="square" lIns="0" tIns="0" rIns="0" bIns="0" rtlCol="0" anchor="t"/>
          <a:lstStyle/>
          <a:p>
            <a:pPr indent="0" marL="0">
              <a:buNone/>
            </a:pPr>
            <a:r>
              <a:rPr lang="en-US" sz="1250" dirty="0">
                <a:solidFill>
                  <a:srgbClr val="2F3C7E"/>
                </a:solidFill>
                <a:latin typeface="Calibri" pitchFamily="34" charset="0"/>
                <a:ea typeface="Calibri" pitchFamily="34" charset="-122"/>
                <a:cs typeface="Calibri" pitchFamily="34" charset="-120"/>
              </a:rPr>
              <a:t>We align on goals, timeline, and deliverables.</a:t>
            </a:r>
            <a:endParaRPr lang="en-US" sz="1250" dirty="0"/>
          </a:p>
        </p:txBody>
      </p:sp>
      <p:sp>
        <p:nvSpPr>
          <p:cNvPr id="7" name="Text 5"/>
          <p:cNvSpPr/>
          <p:nvPr/>
        </p:nvSpPr>
        <p:spPr>
          <a:xfrm>
            <a:off x="3154680" y="2697480"/>
            <a:ext cx="274320" cy="731520"/>
          </a:xfrm>
          <a:prstGeom prst="rect">
            <a:avLst/>
          </a:prstGeom>
          <a:noFill/>
          <a:ln/>
        </p:spPr>
        <p:txBody>
          <a:bodyPr wrap="square" lIns="0" tIns="0" rIns="0" bIns="0" rtlCol="0" anchor="ctr"/>
          <a:lstStyle/>
          <a:p>
            <a:pPr algn="ctr" indent="0" marL="0">
              <a:buNone/>
            </a:pPr>
            <a:r>
              <a:rPr lang="en-US" sz="2000" dirty="0">
                <a:solidFill>
                  <a:srgbClr val="F9E79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429000" y="2651760"/>
            <a:ext cx="731520" cy="731520"/>
          </a:xfrm>
          <a:prstGeom prst="ellipse">
            <a:avLst/>
          </a:prstGeom>
          <a:solidFill>
            <a:srgbClr val="F96167"/>
          </a:solidFill>
          <a:ln/>
        </p:spPr>
      </p:sp>
      <p:sp>
        <p:nvSpPr>
          <p:cNvPr id="9" name="Text 7"/>
          <p:cNvSpPr/>
          <p:nvPr/>
        </p:nvSpPr>
        <p:spPr>
          <a:xfrm>
            <a:off x="3429000" y="26517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3429000" y="3566160"/>
            <a:ext cx="2606040" cy="45720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Content Plan</a:t>
            </a:r>
            <a:endParaRPr lang="en-US" sz="1600" dirty="0"/>
          </a:p>
        </p:txBody>
      </p:sp>
      <p:sp>
        <p:nvSpPr>
          <p:cNvPr id="11" name="Text 9"/>
          <p:cNvSpPr/>
          <p:nvPr/>
        </p:nvSpPr>
        <p:spPr>
          <a:xfrm>
            <a:off x="3429000" y="4023360"/>
            <a:ext cx="2606040" cy="1280160"/>
          </a:xfrm>
          <a:prstGeom prst="rect">
            <a:avLst/>
          </a:prstGeom>
          <a:noFill/>
          <a:ln/>
        </p:spPr>
        <p:txBody>
          <a:bodyPr wrap="square" lIns="0" tIns="0" rIns="0" bIns="0" rtlCol="0" anchor="t"/>
          <a:lstStyle/>
          <a:p>
            <a:pPr indent="0" marL="0">
              <a:buNone/>
            </a:pPr>
            <a:r>
              <a:rPr lang="en-US" sz="1250" dirty="0">
                <a:solidFill>
                  <a:srgbClr val="2F3C7E"/>
                </a:solidFill>
                <a:latin typeface="Calibri" pitchFamily="34" charset="0"/>
                <a:ea typeface="Calibri" pitchFamily="34" charset="-122"/>
                <a:cs typeface="Calibri" pitchFamily="34" charset="-120"/>
              </a:rPr>
              <a:t>I draft concepts that fit your brand and my audience.</a:t>
            </a:r>
            <a:endParaRPr lang="en-US" sz="1250" dirty="0"/>
          </a:p>
        </p:txBody>
      </p:sp>
      <p:sp>
        <p:nvSpPr>
          <p:cNvPr id="12" name="Text 10"/>
          <p:cNvSpPr/>
          <p:nvPr/>
        </p:nvSpPr>
        <p:spPr>
          <a:xfrm>
            <a:off x="6035040" y="2697480"/>
            <a:ext cx="274320" cy="731520"/>
          </a:xfrm>
          <a:prstGeom prst="rect">
            <a:avLst/>
          </a:prstGeom>
          <a:noFill/>
          <a:ln/>
        </p:spPr>
        <p:txBody>
          <a:bodyPr wrap="square" lIns="0" tIns="0" rIns="0" bIns="0" rtlCol="0" anchor="ctr"/>
          <a:lstStyle/>
          <a:p>
            <a:pPr algn="ctr" indent="0" marL="0">
              <a:buNone/>
            </a:pPr>
            <a:r>
              <a:rPr lang="en-US" sz="2000" dirty="0">
                <a:solidFill>
                  <a:srgbClr val="F9E795"/>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6309360" y="2651760"/>
            <a:ext cx="731520" cy="731520"/>
          </a:xfrm>
          <a:prstGeom prst="ellipse">
            <a:avLst/>
          </a:prstGeom>
          <a:solidFill>
            <a:srgbClr val="F96167"/>
          </a:solidFill>
          <a:ln/>
        </p:spPr>
      </p:sp>
      <p:sp>
        <p:nvSpPr>
          <p:cNvPr id="14" name="Text 12"/>
          <p:cNvSpPr/>
          <p:nvPr/>
        </p:nvSpPr>
        <p:spPr>
          <a:xfrm>
            <a:off x="6309360" y="26517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5" name="Text 13"/>
          <p:cNvSpPr/>
          <p:nvPr/>
        </p:nvSpPr>
        <p:spPr>
          <a:xfrm>
            <a:off x="6309360" y="3566160"/>
            <a:ext cx="2606040" cy="45720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Create &amp; Post</a:t>
            </a:r>
            <a:endParaRPr lang="en-US" sz="1600" dirty="0"/>
          </a:p>
        </p:txBody>
      </p:sp>
      <p:sp>
        <p:nvSpPr>
          <p:cNvPr id="16" name="Text 14"/>
          <p:cNvSpPr/>
          <p:nvPr/>
        </p:nvSpPr>
        <p:spPr>
          <a:xfrm>
            <a:off x="6309360" y="4023360"/>
            <a:ext cx="2606040" cy="1280160"/>
          </a:xfrm>
          <a:prstGeom prst="rect">
            <a:avLst/>
          </a:prstGeom>
          <a:noFill/>
          <a:ln/>
        </p:spPr>
        <p:txBody>
          <a:bodyPr wrap="square" lIns="0" tIns="0" rIns="0" bIns="0" rtlCol="0" anchor="t"/>
          <a:lstStyle/>
          <a:p>
            <a:pPr indent="0" marL="0">
              <a:buNone/>
            </a:pPr>
            <a:r>
              <a:rPr lang="en-US" sz="1250" dirty="0">
                <a:solidFill>
                  <a:srgbClr val="2F3C7E"/>
                </a:solidFill>
                <a:latin typeface="Calibri" pitchFamily="34" charset="0"/>
                <a:ea typeface="Calibri" pitchFamily="34" charset="-122"/>
                <a:cs typeface="Calibri" pitchFamily="34" charset="-120"/>
              </a:rPr>
              <a:t>Content goes live across the agreed platforms.</a:t>
            </a:r>
            <a:endParaRPr lang="en-US" sz="1250" dirty="0"/>
          </a:p>
        </p:txBody>
      </p:sp>
      <p:sp>
        <p:nvSpPr>
          <p:cNvPr id="17" name="Text 15"/>
          <p:cNvSpPr/>
          <p:nvPr/>
        </p:nvSpPr>
        <p:spPr>
          <a:xfrm>
            <a:off x="8915400" y="2697480"/>
            <a:ext cx="274320" cy="731520"/>
          </a:xfrm>
          <a:prstGeom prst="rect">
            <a:avLst/>
          </a:prstGeom>
          <a:noFill/>
          <a:ln/>
        </p:spPr>
        <p:txBody>
          <a:bodyPr wrap="square" lIns="0" tIns="0" rIns="0" bIns="0" rtlCol="0" anchor="ctr"/>
          <a:lstStyle/>
          <a:p>
            <a:pPr algn="ctr" indent="0" marL="0">
              <a:buNone/>
            </a:pPr>
            <a:r>
              <a:rPr lang="en-US" sz="2000" dirty="0">
                <a:solidFill>
                  <a:srgbClr val="F9E795"/>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9189720" y="2651760"/>
            <a:ext cx="731520" cy="731520"/>
          </a:xfrm>
          <a:prstGeom prst="ellipse">
            <a:avLst/>
          </a:prstGeom>
          <a:solidFill>
            <a:srgbClr val="F96167"/>
          </a:solidFill>
          <a:ln/>
        </p:spPr>
      </p:sp>
      <p:sp>
        <p:nvSpPr>
          <p:cNvPr id="19" name="Text 17"/>
          <p:cNvSpPr/>
          <p:nvPr/>
        </p:nvSpPr>
        <p:spPr>
          <a:xfrm>
            <a:off x="9189720" y="26517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0" name="Text 18"/>
          <p:cNvSpPr/>
          <p:nvPr/>
        </p:nvSpPr>
        <p:spPr>
          <a:xfrm>
            <a:off x="9189720" y="3566160"/>
            <a:ext cx="2606040" cy="457200"/>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Report</a:t>
            </a:r>
            <a:endParaRPr lang="en-US" sz="1600" dirty="0"/>
          </a:p>
        </p:txBody>
      </p:sp>
      <p:sp>
        <p:nvSpPr>
          <p:cNvPr id="21" name="Text 19"/>
          <p:cNvSpPr/>
          <p:nvPr/>
        </p:nvSpPr>
        <p:spPr>
          <a:xfrm>
            <a:off x="9189720" y="4023360"/>
            <a:ext cx="2606040" cy="1280160"/>
          </a:xfrm>
          <a:prstGeom prst="rect">
            <a:avLst/>
          </a:prstGeom>
          <a:noFill/>
          <a:ln/>
        </p:spPr>
        <p:txBody>
          <a:bodyPr wrap="square" lIns="0" tIns="0" rIns="0" bIns="0" rtlCol="0" anchor="t"/>
          <a:lstStyle/>
          <a:p>
            <a:pPr indent="0" marL="0">
              <a:buNone/>
            </a:pPr>
            <a:r>
              <a:rPr lang="en-US" sz="1250" dirty="0">
                <a:solidFill>
                  <a:srgbClr val="2F3C7E"/>
                </a:solidFill>
                <a:latin typeface="Calibri" pitchFamily="34" charset="0"/>
                <a:ea typeface="Calibri" pitchFamily="34" charset="-122"/>
                <a:cs typeface="Calibri" pitchFamily="34" charset="-120"/>
              </a:rPr>
              <a:t>You get a performance recap with key metrics.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EEEE"/>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2F3C7E"/>
                </a:solidFill>
                <a:latin typeface="Cambria" pitchFamily="34" charset="0"/>
                <a:ea typeface="Cambria" pitchFamily="34" charset="-122"/>
                <a:cs typeface="Cambria" pitchFamily="34" charset="-120"/>
              </a:rPr>
              <a:t>Content Gallery</a:t>
            </a:r>
            <a:endParaRPr lang="en-US" sz="3200" dirty="0"/>
          </a:p>
        </p:txBody>
      </p:sp>
      <p:sp>
        <p:nvSpPr>
          <p:cNvPr id="3" name="Shape 1"/>
          <p:cNvSpPr/>
          <p:nvPr/>
        </p:nvSpPr>
        <p:spPr>
          <a:xfrm>
            <a:off x="548640" y="1371600"/>
            <a:ext cx="3566160" cy="1965960"/>
          </a:xfrm>
          <a:prstGeom prst="rect">
            <a:avLst/>
          </a:prstGeom>
          <a:solidFill>
            <a:srgbClr val="FFFFFF"/>
          </a:solidFill>
          <a:ln w="12700">
            <a:solidFill>
              <a:srgbClr val="F9E795"/>
            </a:solidFill>
            <a:prstDash val="dash"/>
          </a:ln>
        </p:spPr>
      </p:sp>
      <p:sp>
        <p:nvSpPr>
          <p:cNvPr id="4" name="Text 2"/>
          <p:cNvSpPr/>
          <p:nvPr/>
        </p:nvSpPr>
        <p:spPr>
          <a:xfrm>
            <a:off x="548640" y="2171700"/>
            <a:ext cx="356616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
        <p:nvSpPr>
          <p:cNvPr id="5" name="Shape 3"/>
          <p:cNvSpPr/>
          <p:nvPr/>
        </p:nvSpPr>
        <p:spPr>
          <a:xfrm>
            <a:off x="4343400" y="1371600"/>
            <a:ext cx="3566160" cy="1965960"/>
          </a:xfrm>
          <a:prstGeom prst="rect">
            <a:avLst/>
          </a:prstGeom>
          <a:solidFill>
            <a:srgbClr val="FFFFFF"/>
          </a:solidFill>
          <a:ln w="12700">
            <a:solidFill>
              <a:srgbClr val="F9E795"/>
            </a:solidFill>
            <a:prstDash val="dash"/>
          </a:ln>
        </p:spPr>
      </p:sp>
      <p:sp>
        <p:nvSpPr>
          <p:cNvPr id="6" name="Text 4"/>
          <p:cNvSpPr/>
          <p:nvPr/>
        </p:nvSpPr>
        <p:spPr>
          <a:xfrm>
            <a:off x="4343400" y="2171700"/>
            <a:ext cx="356616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
        <p:nvSpPr>
          <p:cNvPr id="7" name="Shape 5"/>
          <p:cNvSpPr/>
          <p:nvPr/>
        </p:nvSpPr>
        <p:spPr>
          <a:xfrm>
            <a:off x="8138160" y="1371600"/>
            <a:ext cx="3566160" cy="1965960"/>
          </a:xfrm>
          <a:prstGeom prst="rect">
            <a:avLst/>
          </a:prstGeom>
          <a:solidFill>
            <a:srgbClr val="FFFFFF"/>
          </a:solidFill>
          <a:ln w="12700">
            <a:solidFill>
              <a:srgbClr val="F9E795"/>
            </a:solidFill>
            <a:prstDash val="dash"/>
          </a:ln>
        </p:spPr>
      </p:sp>
      <p:sp>
        <p:nvSpPr>
          <p:cNvPr id="8" name="Text 6"/>
          <p:cNvSpPr/>
          <p:nvPr/>
        </p:nvSpPr>
        <p:spPr>
          <a:xfrm>
            <a:off x="8138160" y="2171700"/>
            <a:ext cx="356616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
        <p:nvSpPr>
          <p:cNvPr id="9" name="Shape 7"/>
          <p:cNvSpPr/>
          <p:nvPr/>
        </p:nvSpPr>
        <p:spPr>
          <a:xfrm>
            <a:off x="548640" y="3566160"/>
            <a:ext cx="3566160" cy="1965960"/>
          </a:xfrm>
          <a:prstGeom prst="rect">
            <a:avLst/>
          </a:prstGeom>
          <a:solidFill>
            <a:srgbClr val="FFFFFF"/>
          </a:solidFill>
          <a:ln w="12700">
            <a:solidFill>
              <a:srgbClr val="F9E795"/>
            </a:solidFill>
            <a:prstDash val="dash"/>
          </a:ln>
        </p:spPr>
      </p:sp>
      <p:sp>
        <p:nvSpPr>
          <p:cNvPr id="10" name="Text 8"/>
          <p:cNvSpPr/>
          <p:nvPr/>
        </p:nvSpPr>
        <p:spPr>
          <a:xfrm>
            <a:off x="548640" y="4366260"/>
            <a:ext cx="356616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
        <p:nvSpPr>
          <p:cNvPr id="11" name="Shape 9"/>
          <p:cNvSpPr/>
          <p:nvPr/>
        </p:nvSpPr>
        <p:spPr>
          <a:xfrm>
            <a:off x="4343400" y="3566160"/>
            <a:ext cx="3566160" cy="1965960"/>
          </a:xfrm>
          <a:prstGeom prst="rect">
            <a:avLst/>
          </a:prstGeom>
          <a:solidFill>
            <a:srgbClr val="FFFFFF"/>
          </a:solidFill>
          <a:ln w="12700">
            <a:solidFill>
              <a:srgbClr val="F9E795"/>
            </a:solidFill>
            <a:prstDash val="dash"/>
          </a:ln>
        </p:spPr>
      </p:sp>
      <p:sp>
        <p:nvSpPr>
          <p:cNvPr id="12" name="Text 10"/>
          <p:cNvSpPr/>
          <p:nvPr/>
        </p:nvSpPr>
        <p:spPr>
          <a:xfrm>
            <a:off x="4343400" y="4366260"/>
            <a:ext cx="356616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
        <p:nvSpPr>
          <p:cNvPr id="13" name="Shape 11"/>
          <p:cNvSpPr/>
          <p:nvPr/>
        </p:nvSpPr>
        <p:spPr>
          <a:xfrm>
            <a:off x="8138160" y="3566160"/>
            <a:ext cx="3566160" cy="1965960"/>
          </a:xfrm>
          <a:prstGeom prst="rect">
            <a:avLst/>
          </a:prstGeom>
          <a:solidFill>
            <a:srgbClr val="FFFFFF"/>
          </a:solidFill>
          <a:ln w="12700">
            <a:solidFill>
              <a:srgbClr val="F9E795"/>
            </a:solidFill>
            <a:prstDash val="dash"/>
          </a:ln>
        </p:spPr>
      </p:sp>
      <p:sp>
        <p:nvSpPr>
          <p:cNvPr id="14" name="Text 12"/>
          <p:cNvSpPr/>
          <p:nvPr/>
        </p:nvSpPr>
        <p:spPr>
          <a:xfrm>
            <a:off x="8138160" y="4366260"/>
            <a:ext cx="3566160" cy="365760"/>
          </a:xfrm>
          <a:prstGeom prst="rect">
            <a:avLst/>
          </a:prstGeom>
          <a:noFill/>
          <a:ln/>
        </p:spPr>
        <p:txBody>
          <a:bodyPr wrap="square" lIns="0" tIns="0" rIns="0" bIns="0" rtlCol="0" anchor="ctr"/>
          <a:lstStyle/>
          <a:p>
            <a:pPr algn="ctr" indent="0" marL="0">
              <a:buNone/>
            </a:pPr>
            <a:r>
              <a:rPr lang="en-US" sz="1100" i="1" dirty="0">
                <a:solidFill>
                  <a:srgbClr val="F9E795"/>
                </a:solidFill>
                <a:latin typeface="Calibri" pitchFamily="34" charset="0"/>
                <a:ea typeface="Calibri" pitchFamily="34" charset="-122"/>
                <a:cs typeface="Calibri" pitchFamily="34" charset="-120"/>
              </a:rPr>
              <a:t>Add Photo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6167"/>
        </a:solidFill>
      </p:bgPr>
    </p:bg>
    <p:spTree>
      <p:nvGrpSpPr>
        <p:cNvPr id="1" name=""/>
        <p:cNvGrpSpPr/>
        <p:nvPr/>
      </p:nvGrpSpPr>
      <p:grpSpPr>
        <a:xfrm>
          <a:off x="0" y="0"/>
          <a:ext cx="0" cy="0"/>
          <a:chOff x="0" y="0"/>
          <a:chExt cx="0" cy="0"/>
        </a:xfrm>
      </p:grpSpPr>
      <p:sp>
        <p:nvSpPr>
          <p:cNvPr id="2" name="Text 0"/>
          <p:cNvSpPr/>
          <p:nvPr/>
        </p:nvSpPr>
        <p:spPr>
          <a:xfrm>
            <a:off x="914400" y="182880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Connect</a:t>
            </a:r>
            <a:endParaRPr lang="en-US" sz="4000" dirty="0"/>
          </a:p>
        </p:txBody>
      </p:sp>
      <p:sp>
        <p:nvSpPr>
          <p:cNvPr id="3" name="Text 1"/>
          <p:cNvSpPr/>
          <p:nvPr/>
        </p:nvSpPr>
        <p:spPr>
          <a:xfrm>
            <a:off x="914400" y="2606040"/>
            <a:ext cx="8229600" cy="45720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Interested in working together? Let's talk.</a:t>
            </a:r>
            <a:endParaRPr lang="en-US" sz="1500" dirty="0"/>
          </a:p>
        </p:txBody>
      </p:sp>
      <p:pic>
        <p:nvPicPr>
          <p:cNvPr id="4" name="Image 0" descr="preencoded.png">    </p:cNvPr>
          <p:cNvPicPr>
            <a:picLocks noChangeAspect="1"/>
          </p:cNvPicPr>
          <p:nvPr/>
        </p:nvPicPr>
        <p:blipFill>
          <a:blip r:embed="rId1"/>
          <a:stretch>
            <a:fillRect/>
          </a:stretch>
        </p:blipFill>
        <p:spPr>
          <a:xfrm>
            <a:off x="914400" y="3474720"/>
            <a:ext cx="365760" cy="365760"/>
          </a:xfrm>
          <a:prstGeom prst="rect">
            <a:avLst/>
          </a:prstGeom>
        </p:spPr>
      </p:pic>
      <p:sp>
        <p:nvSpPr>
          <p:cNvPr id="5" name="Text 2"/>
          <p:cNvSpPr/>
          <p:nvPr/>
        </p:nvSpPr>
        <p:spPr>
          <a:xfrm>
            <a:off x="1463040" y="3429000"/>
            <a:ext cx="731520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hello@yourbrand.com</a:t>
            </a:r>
            <a:endParaRPr lang="en-US" sz="1600" dirty="0"/>
          </a:p>
        </p:txBody>
      </p:sp>
      <p:pic>
        <p:nvPicPr>
          <p:cNvPr id="6" name="Image 1" descr="preencoded.png">    </p:cNvPr>
          <p:cNvPicPr>
            <a:picLocks noChangeAspect="1"/>
          </p:cNvPicPr>
          <p:nvPr/>
        </p:nvPicPr>
        <p:blipFill>
          <a:blip r:embed="rId2"/>
          <a:stretch>
            <a:fillRect/>
          </a:stretch>
        </p:blipFill>
        <p:spPr>
          <a:xfrm>
            <a:off x="914400" y="4069080"/>
            <a:ext cx="365760" cy="365760"/>
          </a:xfrm>
          <a:prstGeom prst="rect">
            <a:avLst/>
          </a:prstGeom>
        </p:spPr>
      </p:pic>
      <p:sp>
        <p:nvSpPr>
          <p:cNvPr id="7" name="Text 3"/>
          <p:cNvSpPr/>
          <p:nvPr/>
        </p:nvSpPr>
        <p:spPr>
          <a:xfrm>
            <a:off x="1463040" y="4023360"/>
            <a:ext cx="731520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@yourbrand</a:t>
            </a:r>
            <a:endParaRPr lang="en-US" sz="1600" dirty="0"/>
          </a:p>
        </p:txBody>
      </p:sp>
      <p:pic>
        <p:nvPicPr>
          <p:cNvPr id="8" name="Image 2" descr="preencoded.png">    </p:cNvPr>
          <p:cNvPicPr>
            <a:picLocks noChangeAspect="1"/>
          </p:cNvPicPr>
          <p:nvPr/>
        </p:nvPicPr>
        <p:blipFill>
          <a:blip r:embed="rId3"/>
          <a:stretch>
            <a:fillRect/>
          </a:stretch>
        </p:blipFill>
        <p:spPr>
          <a:xfrm>
            <a:off x="914400" y="4663440"/>
            <a:ext cx="365760" cy="365760"/>
          </a:xfrm>
          <a:prstGeom prst="rect">
            <a:avLst/>
          </a:prstGeom>
        </p:spPr>
      </p:pic>
      <p:sp>
        <p:nvSpPr>
          <p:cNvPr id="9" name="Text 4"/>
          <p:cNvSpPr/>
          <p:nvPr/>
        </p:nvSpPr>
        <p:spPr>
          <a:xfrm>
            <a:off x="1463040" y="4617720"/>
            <a:ext cx="731520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www.yourbrand.com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2026-08-15T16:15:57Z</dcterms:created>
  <dcterms:modified xsi:type="dcterms:W3CDTF">2026-08-15T16:15:57Z</dcterms:modified>
</cp:coreProperties>
</file>